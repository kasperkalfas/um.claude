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86" r:id="rId5"/>
    <p:sldId id="260" r:id="rId6"/>
    <p:sldId id="261" r:id="rId7"/>
    <p:sldId id="262" r:id="rId8"/>
    <p:sldId id="263" r:id="rId9"/>
    <p:sldId id="287" r:id="rId10"/>
    <p:sldId id="266" r:id="rId11"/>
    <p:sldId id="267" r:id="rId12"/>
    <p:sldId id="269" r:id="rId13"/>
    <p:sldId id="271" r:id="rId14"/>
    <p:sldId id="288" r:id="rId15"/>
    <p:sldId id="272" r:id="rId16"/>
    <p:sldId id="273" r:id="rId17"/>
    <p:sldId id="265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12192000"/>
  <p:embeddedFontLst>
    <p:embeddedFont>
      <p:font typeface="Geologica SemiBold" pitchFamily="2" charset="0"/>
      <p:regular r:id="rId31"/>
      <p:bold r:id="rId32"/>
    </p:embeddedFont>
    <p:embeddedFont>
      <p:font typeface="Karla" panose="020B0004030503030003" pitchFamily="34" charset="0"/>
      <p:regular r:id="rId33"/>
      <p:bold r:id="rId34"/>
      <p:italic r:id="rId35"/>
      <p:boldItalic r:id="rId36"/>
    </p:embeddedFont>
    <p:embeddedFont>
      <p:font typeface="Karla Bold" panose="020B0004030503030003" pitchFamily="34" charset="0"/>
      <p:regular r:id="rId37"/>
      <p:bold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Bold" panose="020B0806030504020204" charset="0"/>
      <p:regular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03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946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5FB49-28A0-84FF-786F-FFEEC54F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1E681-8705-6C66-493A-8FE3D9162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0837F-B35D-27ED-3D70-92DEE00EC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DE39A-2C7D-0E38-4539-559315EE8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91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5865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 — punkt widzenia na dane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234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Jak z zestawienia rocznego zrobić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jedno zdanie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które bank, Rada i Prezydent zapamiętają — i na którym podejmą decyzję.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040882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430857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4277122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Zestawienie ma 8 działów, 12 miesięcy i 96 liczb. Bank zapamięta jedną.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Którą?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08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Dwa warianty tej samej prezentacji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67595"/>
            <a:ext cx="170622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74879" y="2724249"/>
            <a:ext cx="20889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WARIANT A — TYPOWY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03033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„Wykonanie budżetu za I–VIII 2026"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514626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Tabela: 8 działów × plan × wykonanie × % planu.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Odbiorca sam szuka, co z tego wynika. Najczęściej — nie znajduje.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2454970"/>
            <a:ext cx="5476043" cy="2307034"/>
          </a:xfrm>
          <a:prstGeom prst="roundRect">
            <a:avLst>
              <a:gd name="adj" fmla="val 589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6385658" y="2667595"/>
            <a:ext cx="188243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499062" y="2724249"/>
            <a:ext cx="22652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WARIANT B — Z DATAPOV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85658" y="3030339"/>
            <a:ext cx="509802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„Prognoza 2026: 153,0 mln zł — harmonogram spłat bezpieczny"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809901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 same liczby — ale w roli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dowodu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nie treści. Odbiorca wie od razu, co ma zdecydować.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50664" y="561928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Który wariant Pani Skarbnik wolałaby dostać od zespołu </a:t>
            </a:r>
            <a:r>
              <a:rPr lang="en-US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15 minut przed spotkaniem z bankiem?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1118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liczby same się nie bronią</a:t>
            </a:r>
            <a:endParaRPr lang="en-US" sz="3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29680"/>
            <a:ext cx="6296860" cy="11570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6163" y="1908175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22× lepiej zapamiętywana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916163" y="223797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Historia jest zapamiętywana 22 razy lepiej niż same fakty (Jennifer Aaker, Stanford).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21310"/>
            <a:ext cx="6296860" cy="11570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6163" y="3199805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Mózg przechowuje narrację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916163" y="352960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tabelę — lecz ciąg przyczynowo-skutkowy: co było, co się zmieniło, co z tego wynika.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12940"/>
            <a:ext cx="6296860" cy="11570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6163" y="4491434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Wygrywa teza, nie dokładność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916163" y="482123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 widzi dziesiątki zestawień miesięcznie. Zapamięta nie najdokładniejsze — lecz to, które </a:t>
            </a:r>
            <a:r>
              <a:rPr lang="en-US" sz="12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miało tezę</a:t>
            </a: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56774FC2-78E6-FC2C-2681-290BA42DDB24}"/>
              </a:ext>
            </a:extLst>
          </p:cNvPr>
          <p:cNvSpPr/>
          <p:nvPr/>
        </p:nvSpPr>
        <p:spPr>
          <a:xfrm>
            <a:off x="881271" y="2478156"/>
            <a:ext cx="10787270" cy="1781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Data storytelling</a:t>
            </a:r>
            <a:r>
              <a:rPr lang="en-US" sz="2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= dane (dowód) + </a:t>
            </a:r>
            <a:r>
              <a:rPr lang="en-US" sz="200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narracja</a:t>
            </a:r>
            <a:r>
              <a:rPr lang="en-US" sz="2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(sens) + </a:t>
            </a:r>
            <a:r>
              <a:rPr lang="en-US" sz="200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wizualizacja</a:t>
            </a:r>
            <a:r>
              <a:rPr lang="en-US" sz="2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(szybkość zrozumienia). </a:t>
            </a:r>
          </a:p>
          <a:p>
            <a:pPr marL="0" indent="0" algn="ctr">
              <a:lnSpc>
                <a:spcPct val="123000"/>
              </a:lnSpc>
              <a:buNone/>
            </a:pPr>
            <a:endParaRPr lang="en-US" sz="2000" dirty="0">
              <a:solidFill>
                <a:srgbClr val="000000"/>
              </a:solidFill>
              <a:latin typeface="Karla" pitchFamily="34" charset="0"/>
              <a:ea typeface="Karla" pitchFamily="34" charset="-122"/>
              <a:cs typeface="Karla" pitchFamily="34" charset="-120"/>
            </a:endParaRPr>
          </a:p>
          <a:p>
            <a:pPr marL="0" indent="0" algn="ctr">
              <a:lnSpc>
                <a:spcPct val="123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Brak któregokolwiek elementu = prezentacja, którą trzeba czytać dwa razy.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77242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99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Co historia robi z odbiorcą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42455"/>
            <a:ext cx="450343" cy="450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07419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Upraszcza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2591891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Skomplikowany przekaz dzieli na kroki, które da się prześledzić.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3100" y="1542455"/>
            <a:ext cx="450343" cy="4503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3100" y="2207419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Przyciąga uwagę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03100" y="2591891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Ciekawość „co dalej" utrzymuje słuchacza do końca.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16771"/>
            <a:ext cx="450343" cy="4503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881735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Buduje zaufanie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61475" y="4266208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Przekonuje logiką </a:t>
            </a:r>
            <a:r>
              <a:rPr lang="en-US" sz="14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zaangażowaniem — nie tylko tabelą.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3100" y="3216771"/>
            <a:ext cx="450343" cy="4503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3100" y="3881735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Daje kontekst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03100" y="4266208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Liczba 4,5 mln zł nic nie znaczy, dopóki nie wiadomo, czy to dużo.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91088"/>
            <a:ext cx="450343" cy="4503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556052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Zostaje w pamięci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61475" y="5940524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Struktura początek–środek–koniec porządkuje fakty.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3100" y="4891088"/>
            <a:ext cx="450343" cy="4503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03100" y="5556052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Prowadzi do decyzji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203100" y="5940524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Dobra historia kończy się pytaniem: „więc co robimy?"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093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Elementy dobrej opowieści o budżecie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1551186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26759" y="158377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14109" y="1611015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Jasny cel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14109" y="2043807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Informacja, zgoda czy decyzja? Określ to zanim napiszesz pierwszy slajd.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2900660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26759" y="2933254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214109" y="2960489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Problem / wyzwanie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14109" y="3393281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jest nie tak albo co jest szansą — bez tego nie ma historii.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4250134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26759" y="4282728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214109" y="4309963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i fakty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14109" y="4742755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Dowody, nie ozdoby. Tabela pełna liczb idzie do załącznika.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1475" y="5331817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726759" y="5364411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214109" y="5391646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Wezwanie do działania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14109" y="5824438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Czego oczekujemy od odbiorcy — konkretnie i wyraźnie.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14719" y="1551186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6380003" y="158377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</a:rPr>
              <a:t>5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6867353" y="1611015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Prostota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67353" y="2043807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Jedna myśl na slajd, reszta do załącznika (tzw. „backup").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14719" y="2632869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6380003" y="2665462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</a:rPr>
              <a:t>6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6867353" y="2692698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Znajomość odbiorcy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67353" y="3125490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 pyta o płynność, Rada o priorytety, mieszkańcy o ulice.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14719" y="3982343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380003" y="4014936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/>
              <a:t>7</a:t>
            </a:r>
          </a:p>
        </p:txBody>
      </p:sp>
      <p:sp>
        <p:nvSpPr>
          <p:cNvPr id="29" name="Text 27"/>
          <p:cNvSpPr/>
          <p:nvPr/>
        </p:nvSpPr>
        <p:spPr>
          <a:xfrm>
            <a:off x="6867353" y="4042172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Wzmocnienie kluczowych punktów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867353" y="4474964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Najważniejsza liczba pojawia się więcej niż raz.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14719" y="5064026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6380003" y="509661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8</a:t>
            </a:r>
            <a:endParaRPr lang="en-US" sz="2050" dirty="0"/>
          </a:p>
        </p:txBody>
      </p:sp>
      <p:sp>
        <p:nvSpPr>
          <p:cNvPr id="33" name="Text 31"/>
          <p:cNvSpPr/>
          <p:nvPr/>
        </p:nvSpPr>
        <p:spPr>
          <a:xfrm>
            <a:off x="6867353" y="5123855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Klarowne zakończenie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867353" y="5556647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Ostatni slajd to decyzja — nie „dziękuję za uwagę".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4873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29435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Jedno zdanie, na którym stoi cała prezentacja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408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Koncepcja Nancy Duarte, </a:t>
            </a: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DataStory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punkt widzenia na dane sformułowany jako główny przekaz.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69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Anatomia DataPOV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23666"/>
            <a:ext cx="2507394" cy="2084685"/>
          </a:xfrm>
          <a:prstGeom prst="roundRect">
            <a:avLst>
              <a:gd name="adj" fmla="val 3808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56832" y="301902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Punkt widzenia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03315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dane mówią? Jakie działanie z nich wynika?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57875" y="2823666"/>
            <a:ext cx="2507394" cy="2084685"/>
          </a:xfrm>
          <a:prstGeom prst="roundRect">
            <a:avLst>
              <a:gd name="adj" fmla="val 3808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553232" y="301902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Stawka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553232" y="3503315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organizacja zyska, jeśli rekomendację przyjmie? Co straci, jeśli nie?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6237" y="299372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Wzór:</a:t>
            </a: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„Aby </a:t>
            </a:r>
            <a:r>
              <a:rPr lang="en-US" sz="160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[efekt / stawka]</a:t>
            </a: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rekomendujemy </a:t>
            </a:r>
            <a:r>
              <a:rPr lang="en-US" sz="1600" dirty="0">
                <a:solidFill>
                  <a:srgbClr val="0097A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[działanie]</a:t>
            </a: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ponieważ dane pokazują </a:t>
            </a:r>
            <a:r>
              <a:rPr lang="en-US" sz="1600" dirty="0">
                <a:solidFill>
                  <a:srgbClr val="C4A864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[punkt widzenia]</a:t>
            </a: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32776" y="2823666"/>
            <a:ext cx="25399" cy="94495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616237" y="376862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Wszystkie pozostałe slajdy, tabele i wykresy mają DataPOV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wspierać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Jeśli czegoś nie wspierają — idą do załącznika.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1012" y="496293"/>
            <a:ext cx="5209976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867" b="1" dirty="0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Koszt </a:t>
            </a:r>
            <a:r>
              <a:rPr lang="en-US" sz="2867" b="1" dirty="0" err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Złej</a:t>
            </a:r>
            <a:r>
              <a:rPr lang="en-US" sz="2867" b="1" dirty="0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</a:t>
            </a:r>
            <a:r>
              <a:rPr lang="en-US" sz="2867" b="1" dirty="0" err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Jakości</a:t>
            </a:r>
            <a:r>
              <a:rPr lang="en-US" sz="2867" b="1" dirty="0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</a:t>
            </a:r>
            <a:r>
              <a:rPr lang="en-US" sz="2867" b="1" dirty="0" err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Danych</a:t>
            </a:r>
            <a:endParaRPr lang="en-US" sz="2867" dirty="0"/>
          </a:p>
        </p:txBody>
      </p:sp>
      <p:sp>
        <p:nvSpPr>
          <p:cNvPr id="3" name="Text 1"/>
          <p:cNvSpPr/>
          <p:nvPr/>
        </p:nvSpPr>
        <p:spPr>
          <a:xfrm>
            <a:off x="356693" y="1219002"/>
            <a:ext cx="1147861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6000"/>
              </a:lnSpc>
            </a:pP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Marnotrawiony kapitał, który moglibyśmy przeznaczyć na rozwój i innowacje.</a:t>
            </a:r>
            <a:endParaRPr lang="en-US" sz="1133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891" y="1589386"/>
            <a:ext cx="3853756" cy="385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2041" y="5607051"/>
            <a:ext cx="3231356" cy="23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Miesięczny koszt (156–239 tys. PLN)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661493" y="5915917"/>
            <a:ext cx="535255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26000"/>
              </a:lnSpc>
            </a:pP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równowartość</a:t>
            </a:r>
            <a:r>
              <a:rPr lang="en-US" sz="1133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nowego energooszczędnego samochodu dostawczego</a:t>
            </a: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 znacząco zmodernizowałoby naszą flotę i obniżyło koszty operacyjne.</a:t>
            </a:r>
            <a:endParaRPr lang="en-US" sz="1133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354" y="1589386"/>
            <a:ext cx="3853756" cy="38537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51118" y="5607051"/>
            <a:ext cx="3006229" cy="23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Roczny koszt (1,87–2,87 mln PLN)</a:t>
            </a:r>
            <a:endParaRPr lang="en-US" sz="1400"/>
          </a:p>
        </p:txBody>
      </p:sp>
      <p:sp>
        <p:nvSpPr>
          <p:cNvPr id="9" name="Text 5"/>
          <p:cNvSpPr/>
          <p:nvPr/>
        </p:nvSpPr>
        <p:spPr>
          <a:xfrm>
            <a:off x="6177956" y="5915917"/>
            <a:ext cx="535255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26000"/>
              </a:lnSpc>
            </a:pP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pozwalałby na </a:t>
            </a:r>
            <a:r>
              <a:rPr lang="en-US" sz="1133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modernizację kluczowych linii sortowniczych</a:t>
            </a: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lub wdrożenie innowacyjnych rozwiązań automatyzacyjnych w jednym z naszych hubów.</a:t>
            </a:r>
            <a:endParaRPr lang="en-US" sz="1133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71E0D8-69EB-9727-4509-92576872B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608841" y="5837239"/>
            <a:ext cx="2049423" cy="11175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7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Ten sam DataPOV — trzech odbiorców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5645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 same 96 liczb. Trzy różne zdania. Różnica to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odbiorca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71502"/>
            <a:ext cx="3496877" cy="30300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5881" y="295294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Bank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361630"/>
            <a:ext cx="306806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„Prognoza 153,0 mln zł, 2,9 % poniżej planu — zdolność do obsługi zadłużenia niezagrożona."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Fokus: płynność, ryzyko, margines.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171502"/>
            <a:ext cx="3496877" cy="30300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61766" y="295294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Rada Miasta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561766" y="3361630"/>
            <a:ext cx="3068065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„Wydatki na transport i sport zamkną się ok. 1,5 mln zł poniżej planu — proponujemy decyzję: rezerwa czy zadania jednoroczne?"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Fokus: priorytety, decyzja.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171502"/>
            <a:ext cx="3496877" cy="30300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47650" y="295294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Prezydent / kolegium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247650" y="3361630"/>
            <a:ext cx="306806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„Budżet pod kontrolą; dwa działy wymagają korekty o 0,2 mln zł w IV kwartale — wniosek o zgodę."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Fokus: kontrola, zgoda.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414169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681861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65040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 jest pierwsze pytanie, jakie zadaje Claude, zanim zbuduje prezentację: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Kto jest odbiorcą?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Zasada piramidy — od tezy do liczb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Struktura slajdu i całej prezentacji według metodyki McKinsey: </a:t>
            </a:r>
            <a:r>
              <a:rPr lang="en-US" sz="1450" b="1" dirty="0" err="1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teza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 na górze, fakty na dole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Struktura opowieści — pięć kroków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35298"/>
            <a:ext cx="3108049" cy="269180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67735" y="1488380"/>
            <a:ext cx="3505112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RAPORT ROCZNY / PREZENTACJA BUDŻETOWA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91308"/>
            <a:ext cx="3622882" cy="708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675" y="2766219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1. Wprowadzenie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8675" y="3142754"/>
            <a:ext cx="326848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 czym mówimy i dlaczego to ważne dla </a:t>
            </a:r>
            <a:r>
              <a:rPr lang="en-US" sz="13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tej</a:t>
            </a: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sali.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891308"/>
            <a:ext cx="3622882" cy="7088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1557" y="2766219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2. Kontekst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461557" y="3142754"/>
            <a:ext cx="326848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Plan, założenia, co się zmieniło w otoczeniu.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891308"/>
            <a:ext cx="3622882" cy="7088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4439" y="2766219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3. Wyzwanie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084439" y="3142754"/>
            <a:ext cx="326848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Gdzie odchylenia, jakie ryzyko.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869234"/>
            <a:ext cx="3622882" cy="7088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8675" y="4744145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4. Zmiana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838675" y="5120680"/>
            <a:ext cx="326848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już zrobiono lub co proponujemy.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3869234"/>
            <a:ext cx="3622882" cy="7088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61557" y="4744145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5. Rozwiązanie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461557" y="5120680"/>
            <a:ext cx="326848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DataPOV powtórzony + decyzja do podjęcia.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356682" y="6033988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DLACZEGO? → JAK? → CO? → PO CO? → DECYZJA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6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Trzy narzędzia, gdy sam wykres to za mało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56832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Analogia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Porównaj liczbę do czegoś znajomego: „4,5 mln zł poniżej planu to równowartość rocznego utrzymania ok. 3 przedszkoli."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542716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Skala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Pokaż wielkość względem całości: „Odchylenie 2,9 % — mniej niż jedna dwunasta, czyli mniej niż jeden miesiąc wydatków."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8228600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Miejsce w czasie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Osadź w historii: „Wykonanie 64,8 % po sierpniu to najniższe tempo od 2023 r." — jeśli dane to potwierdzają.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9500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762698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73124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Liczba bez odniesienia jest tylko liczbą. Odniesienie robi z niej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argument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Claude generuje takie warianty w kilka sekund — ale to Wy wybieracie, który jest prawdziwy i stosowny.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31BE-7C01-D7C7-EA3F-675F22A3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A09017-9394-AAA1-90D5-90A7130EE31E}"/>
              </a:ext>
            </a:extLst>
          </p:cNvPr>
          <p:cNvSpPr/>
          <p:nvPr/>
        </p:nvSpPr>
        <p:spPr>
          <a:xfrm>
            <a:off x="3491012" y="496293"/>
            <a:ext cx="5209976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867" b="1" dirty="0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Koszt </a:t>
            </a:r>
            <a:r>
              <a:rPr lang="en-US" sz="2867" b="1" dirty="0" err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Złej</a:t>
            </a:r>
            <a:r>
              <a:rPr lang="en-US" sz="2867" b="1" dirty="0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</a:t>
            </a:r>
            <a:r>
              <a:rPr lang="en-US" sz="2867" b="1" dirty="0" err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Jakości</a:t>
            </a:r>
            <a:r>
              <a:rPr lang="en-US" sz="2867" b="1" dirty="0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</a:t>
            </a:r>
            <a:r>
              <a:rPr lang="en-US" sz="2867" b="1" dirty="0" err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Danych</a:t>
            </a:r>
            <a:endParaRPr lang="en-US" sz="2867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488616-AAB2-714B-3D88-3D4779F6B683}"/>
              </a:ext>
            </a:extLst>
          </p:cNvPr>
          <p:cNvSpPr/>
          <p:nvPr/>
        </p:nvSpPr>
        <p:spPr>
          <a:xfrm>
            <a:off x="356693" y="1219002"/>
            <a:ext cx="1147861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6000"/>
              </a:lnSpc>
            </a:pP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Marnotrawiony kapitał, który moglibyśmy przeznaczyć na rozwój i innowacje.</a:t>
            </a:r>
            <a:endParaRPr lang="en-US" sz="1133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9EE333D-1D4F-1F51-9CA9-A41834BCD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891" y="1589386"/>
            <a:ext cx="3853756" cy="385375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099CC5C4-903F-53E9-6B2B-29059A280A8E}"/>
              </a:ext>
            </a:extLst>
          </p:cNvPr>
          <p:cNvSpPr/>
          <p:nvPr/>
        </p:nvSpPr>
        <p:spPr>
          <a:xfrm>
            <a:off x="1722041" y="5607051"/>
            <a:ext cx="3231356" cy="23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Miesięczny koszt (156–239 tys. PLN)</a:t>
            </a:r>
            <a:endParaRPr lang="en-US"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9CC35C1-4A4E-480E-1950-709687EFB58A}"/>
              </a:ext>
            </a:extLst>
          </p:cNvPr>
          <p:cNvSpPr/>
          <p:nvPr/>
        </p:nvSpPr>
        <p:spPr>
          <a:xfrm>
            <a:off x="661493" y="5915917"/>
            <a:ext cx="535255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26000"/>
              </a:lnSpc>
            </a:pP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równowartość</a:t>
            </a:r>
            <a:r>
              <a:rPr lang="en-US" sz="1133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nowego energooszczędnego samochodu dostawczego</a:t>
            </a: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 znacząco zmodernizowałoby naszą flotę i obniżyło koszty operacyjne.</a:t>
            </a:r>
            <a:endParaRPr lang="en-US" sz="1133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DC8919B9-B24B-39BF-66DD-82CEA06A7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354" y="1589386"/>
            <a:ext cx="3853756" cy="385375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10480504-ECE2-E601-457A-8A4347D06CA2}"/>
              </a:ext>
            </a:extLst>
          </p:cNvPr>
          <p:cNvSpPr/>
          <p:nvPr/>
        </p:nvSpPr>
        <p:spPr>
          <a:xfrm>
            <a:off x="7351118" y="5607051"/>
            <a:ext cx="3006229" cy="23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Roczny koszt (1,87–2,87 mln PLN)</a:t>
            </a:r>
            <a:endParaRPr lang="en-US" sz="14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8ECB886-CE43-8388-71DD-608A98CFA7AE}"/>
              </a:ext>
            </a:extLst>
          </p:cNvPr>
          <p:cNvSpPr/>
          <p:nvPr/>
        </p:nvSpPr>
        <p:spPr>
          <a:xfrm>
            <a:off x="6177956" y="5915917"/>
            <a:ext cx="535255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26000"/>
              </a:lnSpc>
            </a:pP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pozwalałby na </a:t>
            </a:r>
            <a:r>
              <a:rPr lang="en-US" sz="1133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modernizację kluczowych linii sortowniczych</a:t>
            </a:r>
            <a:r>
              <a:rPr lang="en-US" sz="1133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lub wdrożenie innowacyjnych rozwiązań automatyzacyjnych w jednym z naszych hubów.</a:t>
            </a:r>
            <a:endParaRPr lang="en-US" sz="1133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B7717B-B4F2-2F3E-C0A7-30CEE42E1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608841" y="5837239"/>
            <a:ext cx="2049423" cy="111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69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 err="1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Wykonanie</a:t>
            </a: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budżetu I–VIII 2026 — obraz sytuacji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1376923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18127" y="937816"/>
            <a:ext cx="187320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FIKCYJNE — PLIK SZKOLENIOWY</a:t>
            </a:r>
            <a:endParaRPr lang="en-US" sz="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6091"/>
            <a:ext cx="10868745" cy="60865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724574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Przy równym tempie po 8 miesiącach oczekiwane wykonanie wynosi </a:t>
            </a: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66,7 %</a:t>
            </a: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Sześć z ośmiu działów jest poniżej tego progu.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450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 err="1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Prognoza</a:t>
            </a:r>
            <a:r>
              <a:rPr lang="en-US" sz="34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roczna — zestawienie działów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38374"/>
            <a:ext cx="2583691" cy="26918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67735" y="1491456"/>
            <a:ext cx="2980754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FIKCYJNE — PLIK SZKOLENIOWY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94384"/>
          <a:ext cx="10868745" cy="3936900"/>
        </p:xfrm>
        <a:graphic>
          <a:graphicData uri="http://schemas.openxmlformats.org/drawingml/2006/table">
            <a:tbl>
              <a:tblPr/>
              <a:tblGrid>
                <a:gridCol w="3804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7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Dział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Plan 2026 (mln zł)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Prognoza (mln zł)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Odchylenie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600 Transport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40,0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38,0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−5,0 %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926 Kultura fizyczna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15,0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14,1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−6,0 %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801 Oświata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55,0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53,0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−3,6 %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852 Pomoc społeczna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22,0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21,2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−3,6 %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750 Administracja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12,5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12,6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97A7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+0,8 %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851 Ochrona zdrowia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8,1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97A7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+1,5 %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7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RAZEM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157,5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153,0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−2,9 %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6030913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Tabela ta należy do </a:t>
            </a:r>
            <a:r>
              <a:rPr lang="en-US" sz="13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załącznika</a:t>
            </a: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na slajdzie głównym zostają tylko 3 liczby: 157,5 / 153,0 / −2,9 %.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290043"/>
            <a:ext cx="995213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err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Roadmapa</a:t>
            </a:r>
            <a:r>
              <a:rPr lang="en-US" sz="320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FASTMOVE Data Foundation </a:t>
            </a:r>
            <a:endParaRPr lang="en-US" sz="32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3" y="2137470"/>
            <a:ext cx="10869017" cy="2979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1721" y="3214239"/>
            <a:ext cx="1642467" cy="588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Faza 0: Mobilizacja</a:t>
            </a: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072205" y="3900155"/>
            <a:ext cx="1642467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Sponsorship</a:t>
            </a:r>
            <a:endParaRPr lang="en-US" sz="1467"/>
          </a:p>
        </p:txBody>
      </p:sp>
      <p:sp>
        <p:nvSpPr>
          <p:cNvPr id="6" name="Text 3"/>
          <p:cNvSpPr/>
          <p:nvPr/>
        </p:nvSpPr>
        <p:spPr>
          <a:xfrm>
            <a:off x="1971721" y="4204980"/>
            <a:ext cx="1642467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67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Powołanie Data Ownerów i CDO</a:t>
            </a:r>
            <a:endParaRPr lang="en-US" sz="1467"/>
          </a:p>
        </p:txBody>
      </p:sp>
      <p:sp>
        <p:nvSpPr>
          <p:cNvPr id="7" name="Text 4"/>
          <p:cNvSpPr/>
          <p:nvPr/>
        </p:nvSpPr>
        <p:spPr>
          <a:xfrm>
            <a:off x="4188471" y="2531961"/>
            <a:ext cx="1642467" cy="588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Faza 1: MVP i Stabilizacja</a:t>
            </a: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59141" y="3267333"/>
            <a:ext cx="1642467" cy="941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67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 paczki i profil klienta, reguły u źródła, kontrole 24/7</a:t>
            </a:r>
            <a:endParaRPr lang="en-US" sz="1467"/>
          </a:p>
        </p:txBody>
      </p:sp>
      <p:sp>
        <p:nvSpPr>
          <p:cNvPr id="9" name="Text 6"/>
          <p:cNvSpPr/>
          <p:nvPr/>
        </p:nvSpPr>
        <p:spPr>
          <a:xfrm>
            <a:off x="6447045" y="3214239"/>
            <a:ext cx="1642467" cy="882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Faza 2, partnerzy i master data</a:t>
            </a:r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96000" y="4451373"/>
            <a:ext cx="2562976" cy="117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67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feedy partnerskie, standard kontraktu na dane, golden record klienta</a:t>
            </a:r>
            <a:endParaRPr lang="en-US" sz="1467"/>
          </a:p>
        </p:txBody>
      </p:sp>
      <p:sp>
        <p:nvSpPr>
          <p:cNvPr id="11" name="Text 8"/>
          <p:cNvSpPr/>
          <p:nvPr/>
        </p:nvSpPr>
        <p:spPr>
          <a:xfrm>
            <a:off x="8684708" y="2708412"/>
            <a:ext cx="1642465" cy="882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Faza 3, gotowość pod portal i SLA</a:t>
            </a:r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4708" y="3674319"/>
            <a:ext cx="164246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67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pełna gotowość danych</a:t>
            </a:r>
            <a:endParaRPr lang="en-US" sz="1467"/>
          </a:p>
        </p:txBody>
      </p:sp>
      <p:sp>
        <p:nvSpPr>
          <p:cNvPr id="13" name="Text 10"/>
          <p:cNvSpPr/>
          <p:nvPr/>
        </p:nvSpPr>
        <p:spPr>
          <a:xfrm>
            <a:off x="661493" y="5303341"/>
            <a:ext cx="114786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endParaRPr lang="en-US" sz="1267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F2AA2D-845C-06B0-EAE7-7DAD9C504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26259" y="5964337"/>
            <a:ext cx="1765016" cy="9625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9194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−2,9 %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26340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Prognoza 2026 poniżej planu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356682" y="35081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 mniej niż jeden miesiąc wydatków. Harmonogram spłat kredytu pozostaje </a:t>
            </a:r>
            <a:r>
              <a:rPr lang="en-US" sz="1450" b="1" dirty="0">
                <a:solidFill>
                  <a:srgbClr val="0097A7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bezpieczny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11767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157,5M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497760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Plan 2026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5386288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Zatwierdzone wydatki roczne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63135" y="411767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102M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4363135" y="497760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Wykonanie I–VIII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63135" y="5386288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64,8 % planu rocznego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64794" y="411767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153M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8064794" y="497760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Prognoza roczna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064794" y="5386288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Rezerwa 4,5 mln zł poniżej planu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5529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Ćwiczenie — 5 minut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21546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 dla Waszego odbiorcy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0028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 parach, na kartce —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bez komputera.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04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Instrukcja ćwiczenia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591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32365" y="18945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1924050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Wybierzcie odbiorcę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2332732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 / Rada Miasta / Prezydent — zdecydujcie przed napisaniem pierwszego słowa.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3915" y="18591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284805" y="18945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28163" y="1924050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Napiszcie jedno zdanie DataPOV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828163" y="2332732"/>
            <a:ext cx="470205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Wzór: „Aby </a:t>
            </a: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[stawka]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rekomendujemy </a:t>
            </a: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[działanie]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ponieważ dane pokazują </a:t>
            </a: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[punkt widzenia]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Dane: 153,0 mln zł prognozy, −2,9 %, działy 750 i 851 minimalnie powyżej planu.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92043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32365" y="395585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5723" y="3985320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Dodajcie argument i liczbę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75723" y="4394002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Jeden argument + jedna liczba, która go dowodzi.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3915" y="392043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284805" y="395585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28163" y="3985320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Przeczytajcie na głos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828163" y="4394002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Test: czy odbiorca po jednym zdaniu wie,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co ma zdecydować?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521146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79157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5723" y="544770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 30 minut, w Bloku B, to zdanie stanie się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pierwszą linijką polecenia do Claude.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435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Szablony poleceń do Claude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512245"/>
            <a:ext cx="1630520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74879" y="3568898"/>
            <a:ext cx="20132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BLOK B — ZA CHWILĘ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401200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Gotowe polecenia — wklejcie je do Claude jako punkt startowy. Każde zaczyna się od Waszego zdania DataPOV.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08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1 — DataPOV z zestawienia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202186"/>
            <a:ext cx="105852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„Na podstawie danych z zestawienia rocznego [plan, wykonanie I–VIII, prognoza] sformułuj DataPOV dla [bank / Rada Miasta]: (1) punkt widzenia — co dane mówią o wykonaniu budżetu, (2) stawka — konsekwencje przyjęcia i nieprzyjęcia rekomendacji. Jedno zdanie, maks. 40 słów, po polsku."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89560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61475" y="453469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Użycie: gdy chcesz, żeby Claude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zaproponował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sformułowanie DataPOV na podstawie liczb, które mu podasz.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20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2 — Slajd w piramidzie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353395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„Zbuduj slajd: tytuł = DataPOV, pod nim 2–3 argumenty, pod każdym jedna liczba z danych. Tabelę z pełnymi danymi umieść w załączniku, nie na slajdzie."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40770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61475" y="438348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Użycie: gdy masz już DataPOV i chcesz, żeby Claude ułożył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strukturę jednego slajdu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zgodnie z zasadą piramidy.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672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3 — Prezentacja w strukturze opowieści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648670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„Ułóż 6 slajdów: wprowadzenie → kontekst → wyzwanie → moment zmiany → rozwiązanie z DataPOV → decyzja do podjęcia. Odbiorca: [bank]. Każdy slajd: jedna myśl w tytule."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436045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61475" y="46787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Użycie: gdy chcesz gotowy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szkielet całej prezentacji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w strukturze pięciu kroków narracyjnych.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53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4 — Narzędzia narracyjne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2566690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„Dla liczby [4,5 mln zł poniżej planu] zaproponuj 3 warianty: analogia, skala, miejsce w czasie. Oznacz, które wymagają danych, których nie podałem."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54064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61475" y="359677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Użycie: gdy masz kluczową liczbę i chcesz, żeby Claude pomógł zbudować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trzy sposoby jej prezentacji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analogię, skalę i kontekst czasowy.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41424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681934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650482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Polecenia dotyczą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danych fikcyjnych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ze szkolenia. Z realnym zestawieniem Urzędu — tylko za pisemną zgodą Zamawiającego.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147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Wszystkie cztery szablony razem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83384"/>
            <a:ext cx="2575357" cy="1744762"/>
          </a:xfrm>
          <a:prstGeom prst="roundRect">
            <a:avLst>
              <a:gd name="adj" fmla="val 4550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75881" y="2997795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3406477"/>
            <a:ext cx="21465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DataPOV z zestawienia — jedno zdanie, maks. 40 słów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783384"/>
            <a:ext cx="2575456" cy="1744762"/>
          </a:xfrm>
          <a:prstGeom prst="roundRect">
            <a:avLst>
              <a:gd name="adj" fmla="val 4550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640245" y="2997795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2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40245" y="3406477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Slajd w piramidzie — teza + argumenty + tabela do załącznika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783384"/>
            <a:ext cx="2575456" cy="1744762"/>
          </a:xfrm>
          <a:prstGeom prst="roundRect">
            <a:avLst>
              <a:gd name="adj" fmla="val 4550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4708" y="2997795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3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404708" y="3406477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6 slajdów w strukturze opowieści — dla wybranego odbiorcy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783384"/>
            <a:ext cx="2575456" cy="1744762"/>
          </a:xfrm>
          <a:prstGeom prst="roundRect">
            <a:avLst>
              <a:gd name="adj" fmla="val 4550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9169171" y="2997795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4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69171" y="3406477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Narzędzia narracyjne — analogia, skala, miejsce w czasie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6682" y="474077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Kolejność pracy: najpierw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Wy piszecie DataPOV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(ćwiczenie), potem Claude buduje resztę (Blok B).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Czego Claude nie zastąpi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94248"/>
            <a:ext cx="690326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Claude przyspiesza formę. Wy odpowiadacie za tezę i za każdą liczbę.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73809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nie zna Waszego odbiorcy — Wy tak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nie wie, która liczba jest „prawdziwa" — Wy to weryfikujecie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nie ponosi odpowiedzialności za sprawozdanie — Pani Skarbnik tak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może zaproponować analogię — tylko Wy wiecie, czy jest stosowna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75178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Podział pracy: DataPOV → Wy. Forma prezentacji → Claude. Weryfikacja każdej liczby → Wy.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75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Zapamiętaj — sześć zasad DataPOV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75" y="2140843"/>
            <a:ext cx="5341605" cy="106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1281" y="2166243"/>
            <a:ext cx="5076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 = punkt widzenia + stawka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01281" y="2574925"/>
            <a:ext cx="50764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Piszemy go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przed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otwarciem PowerPointa.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8515" y="2140843"/>
            <a:ext cx="5341705" cy="106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3721" y="2166243"/>
            <a:ext cx="5076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Odbiorca decyduje o zdaniu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453721" y="2574925"/>
            <a:ext cx="50765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Bank, Rada i Prezydent dostają różne DataPOV z tych samych liczb.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75" y="3532386"/>
            <a:ext cx="5341605" cy="106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1281" y="3557786"/>
            <a:ext cx="5076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Piramida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1281" y="3966468"/>
            <a:ext cx="50764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Teza w tytule, argumenty pod nią, tabela w załączniku.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8515" y="3532386"/>
            <a:ext cx="5341705" cy="106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53721" y="3557786"/>
            <a:ext cx="5076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Pięć kroków narracji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453721" y="3966468"/>
            <a:ext cx="50765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Wprowadzenie → kontekst → wyzwanie → zmiana → rozwiązanie i decyzja.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4923929"/>
            <a:ext cx="5341605" cy="7619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1281" y="4949329"/>
            <a:ext cx="5076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Liczba z odniesieniem = argument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901281" y="5358011"/>
            <a:ext cx="50764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Analogia, skala, czas. Bez odniesienia — tylko liczba.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8515" y="4923929"/>
            <a:ext cx="5341705" cy="76190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53721" y="4949329"/>
            <a:ext cx="5076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Claude przyspiesza formę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453721" y="5358011"/>
            <a:ext cx="50765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 odpowiadacie za tezę i za każdą liczbę.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1950</Words>
  <Application>Microsoft Office PowerPoint</Application>
  <PresentationFormat>Widescreen</PresentationFormat>
  <Paragraphs>268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Karla</vt:lpstr>
      <vt:lpstr>Geologica SemiBold</vt:lpstr>
      <vt:lpstr>Arial</vt:lpstr>
      <vt:lpstr>Open Sans</vt:lpstr>
      <vt:lpstr>Open Sans Bold</vt:lpstr>
      <vt:lpstr>Karla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Kasper</dc:creator>
  <cp:lastModifiedBy>Kasper Kalfas</cp:lastModifiedBy>
  <cp:revision>2</cp:revision>
  <dcterms:created xsi:type="dcterms:W3CDTF">2026-09-20T20:29:58Z</dcterms:created>
  <dcterms:modified xsi:type="dcterms:W3CDTF">2026-09-21T11:22:36Z</dcterms:modified>
</cp:coreProperties>
</file>