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2" r:id="rId2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5" r:id="rId17"/>
    <p:sldId id="276" r:id="rId18"/>
    <p:sldId id="373" r:id="rId19"/>
    <p:sldId id="376" r:id="rId20"/>
    <p:sldId id="377" r:id="rId21"/>
    <p:sldId id="575" r:id="rId22"/>
    <p:sldId id="270" r:id="rId23"/>
    <p:sldId id="271" r:id="rId24"/>
    <p:sldId id="272" r:id="rId25"/>
    <p:sldId id="273" r:id="rId26"/>
    <p:sldId id="274" r:id="rId27"/>
  </p:sldIdLst>
  <p:sldSz cx="12192000" cy="6858000"/>
  <p:notesSz cx="6858000" cy="12192000"/>
  <p:embeddedFontLst>
    <p:embeddedFont>
      <p:font typeface="Bebas Neue" panose="020B0606020202050201" pitchFamily="34" charset="0"/>
      <p:regular r:id="rId29"/>
    </p:embeddedFont>
    <p:embeddedFont>
      <p:font typeface="Geologica" pitchFamily="2" charset="0"/>
      <p:regular r:id="rId30"/>
      <p:bold r:id="rId31"/>
    </p:embeddedFont>
    <p:embeddedFont>
      <p:font typeface="Geologica Light" pitchFamily="2" charset="0"/>
      <p:regular r:id="rId32"/>
    </p:embeddedFont>
    <p:embeddedFont>
      <p:font typeface="Geologica SemiBold" pitchFamily="2" charset="0"/>
      <p:regular r:id="rId33"/>
      <p:bold r:id="rId34"/>
    </p:embeddedFont>
    <p:embeddedFont>
      <p:font typeface="Inter" panose="020B0604020202020204" charset="0"/>
      <p:regular r:id="rId35"/>
      <p:bold r:id="rId36"/>
      <p:italic r:id="rId37"/>
      <p:boldItalic r:id="rId38"/>
    </p:embeddedFont>
    <p:embeddedFont>
      <p:font typeface="Karla" panose="020B0004030503030003" pitchFamily="34" charset="0"/>
      <p:regular r:id="rId39"/>
      <p:bold r:id="rId40"/>
      <p:italic r:id="rId41"/>
      <p:boldItalic r:id="rId42"/>
    </p:embeddedFont>
    <p:embeddedFont>
      <p:font typeface="Karla Bold" panose="020B0004030503030003" pitchFamily="34" charset="0"/>
      <p:regular r:id="rId43"/>
      <p:bold r:id="rId44"/>
    </p:embeddedFont>
    <p:embeddedFont>
      <p:font typeface="Poppins SemiBold" panose="00000700000000000000" pitchFamily="2" charset="0"/>
      <p:bold r:id="rId45"/>
      <p:boldItalic r:id="rId46"/>
    </p:embeddedFont>
    <p:embeddedFont>
      <p:font typeface="Sitka Small Semibold" pitchFamily="2" charset="0"/>
      <p:bold r:id="rId47"/>
      <p:boldItalic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1.fntdata"/><Relationship Id="rId21" Type="http://schemas.openxmlformats.org/officeDocument/2006/relationships/slide" Target="slides/slide19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font" Target="fonts/font19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1.fntdata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font" Target="fonts/font20.fnt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8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069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A9E94176-E56E-556A-1DE3-7F39BA3DB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9e98a207ed_1_1429:notes">
            <a:extLst>
              <a:ext uri="{FF2B5EF4-FFF2-40B4-BE49-F238E27FC236}">
                <a16:creationId xmlns:a16="http://schemas.microsoft.com/office/drawing/2014/main" id="{D80A73AC-BC45-0AA3-E385-7068FB9A04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g29e98a207ed_1_1429:notes">
            <a:extLst>
              <a:ext uri="{FF2B5EF4-FFF2-40B4-BE49-F238E27FC236}">
                <a16:creationId xmlns:a16="http://schemas.microsoft.com/office/drawing/2014/main" id="{B2A417CF-86FD-EC63-55AF-E2BE619F40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35407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73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l" smtClean="0"/>
              <a:pPr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536585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l" smtClean="0"/>
              <a:pPr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100454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l" smtClean="0"/>
              <a:pPr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81180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104664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l" smtClean="0"/>
              <a:pPr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579941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l" smtClean="0"/>
              <a:pPr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423044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l" smtClean="0"/>
              <a:pPr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386627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l" smtClean="0"/>
              <a:pPr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24440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l" smtClean="0"/>
              <a:pPr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126512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3694232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598600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1780811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3996237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3584812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11909317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5941309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18266892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39818273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22398716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1834041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28131504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27203940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4182217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28255008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35957680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31564154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25317450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17095881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42763354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17239147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CD3C42-3D02-C590-3A7D-D4FFE6F58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D7EC483-03BB-761C-D21D-69FF4BA94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1B91D15-965F-9226-4E84-B961F57E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33576-D00D-4CF1-841E-9D085B8CC14A}" type="datetimeFigureOut">
              <a:rPr lang="pl-PL" smtClean="0"/>
              <a:t>19.09.2026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161FCBD-4769-4CBF-6A25-4E53D777F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A9DAAA9-E562-0144-4F0C-6C80BF4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D71-6E2F-4AB3-B3DD-360C297AD6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361232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01">
  <p:cSld name="Quote 0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7"/>
            <a:ext cx="12196133" cy="685798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>
            <a:spLocks noGrp="1"/>
          </p:cNvSpPr>
          <p:nvPr>
            <p:ph type="title"/>
          </p:nvPr>
        </p:nvSpPr>
        <p:spPr>
          <a:xfrm>
            <a:off x="2506133" y="2362371"/>
            <a:ext cx="7179600" cy="2133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Poppins SemiBold"/>
              <a:buNone/>
              <a:defRPr sz="586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3" name="Google Shape;233;p25"/>
          <p:cNvPicPr preferRelativeResize="0"/>
          <p:nvPr/>
        </p:nvPicPr>
        <p:blipFill rotWithShape="1">
          <a:blip r:embed="rId3">
            <a:alphaModFix/>
          </a:blip>
          <a:srcRect l="10986" t="31422" r="10986" b="31422"/>
          <a:stretch/>
        </p:blipFill>
        <p:spPr>
          <a:xfrm>
            <a:off x="287467" y="6420451"/>
            <a:ext cx="999777" cy="20182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/>
          <p:cNvSpPr/>
          <p:nvPr/>
        </p:nvSpPr>
        <p:spPr>
          <a:xfrm>
            <a:off x="1432415" y="6443529"/>
            <a:ext cx="340000" cy="201937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"/>
              <a:buFont typeface="Arial"/>
              <a:buNone/>
            </a:pPr>
            <a:fld id="{00000000-1234-1234-1234-123412341234}" type="slidenum">
              <a:rPr lang="en-GB" sz="653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0"/>
                <a:buFont typeface="Arial"/>
                <a:buNone/>
              </a:pPr>
              <a:t>‹#›</a:t>
            </a:fld>
            <a:endParaRPr sz="653" b="1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25"/>
          <p:cNvSpPr txBox="1">
            <a:spLocks noGrp="1"/>
          </p:cNvSpPr>
          <p:nvPr>
            <p:ph type="body" idx="1"/>
          </p:nvPr>
        </p:nvSpPr>
        <p:spPr>
          <a:xfrm>
            <a:off x="4849940" y="6395257"/>
            <a:ext cx="2544000" cy="225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402" lvl="0" indent="-30470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1200"/>
            </a:lvl1pPr>
            <a:lvl2pPr marL="1218804" lvl="1" indent="-372412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/>
            </a:lvl2pPr>
            <a:lvl3pPr marL="1828206" lvl="2" indent="-372412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/>
            </a:lvl3pPr>
            <a:lvl4pPr marL="2437607" lvl="3" indent="-372412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/>
            </a:lvl4pPr>
            <a:lvl5pPr marL="3047009" lvl="4" indent="-372412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/>
            </a:lvl5pPr>
            <a:lvl6pPr marL="3656411" lvl="5" indent="-304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Font typeface="Inter"/>
              <a:buNone/>
              <a:defRPr/>
            </a:lvl6pPr>
            <a:lvl7pPr marL="4265813" lvl="6" indent="-418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7pPr>
            <a:lvl8pPr marL="4875215" lvl="7" indent="-418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8pPr>
            <a:lvl9pPr marL="5484618" lvl="8" indent="-418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988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3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logica"/>
              <a:buNone/>
              <a:defRPr sz="2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eologica Light"/>
              <a:buChar char="●"/>
              <a:defRPr sz="1800"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○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■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●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○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■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●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○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■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l" smtClean="0"/>
              <a:pPr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964569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1932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Data First, AI Second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61475" y="309344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Dlaczego porządek w danych jest pierwszym krokiem do skutecznego i bezpiecznego korzystania z AI.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44936" y="4123531"/>
            <a:ext cx="66229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Zanim zapytasz AI — zapytaj siebie: czy moje dane są gotowe?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61475" y="3910905"/>
            <a:ext cx="25399" cy="727670"/>
          </a:xfrm>
          <a:prstGeom prst="roundRect">
            <a:avLst>
              <a:gd name="adj" fmla="val 50001"/>
            </a:avLst>
          </a:prstGeom>
          <a:solidFill>
            <a:srgbClr val="F66A53"/>
          </a:solidFill>
          <a:ln/>
        </p:spPr>
        <p:txBody>
          <a:bodyPr/>
          <a:lstStyle/>
          <a:p>
            <a:endParaRPr lang="pl-PL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4029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Od modelu do Waszej codzienności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40506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 poprzednim bloku zobaczyliśmy, jak model AI uczy się z par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dane wejściowe → wynik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 Dziś przechodzimy od teorii do praktyki.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222526"/>
            <a:ext cx="3053877" cy="1404243"/>
          </a:xfrm>
          <a:prstGeom prst="roundRect">
            <a:avLst>
              <a:gd name="adj" fmla="val 5653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5428717" y="3417888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Skąd biorą się dane?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826570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 codziennej pracy w urzędzie — ERP, arkusze, raporty.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3222526"/>
            <a:ext cx="3053976" cy="1404243"/>
          </a:xfrm>
          <a:prstGeom prst="roundRect">
            <a:avLst>
              <a:gd name="adj" fmla="val 5653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8671601" y="3417888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Jak przepływają?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826570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Między systemami, działami i formatami — często ręcznie.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815780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9"/>
          <p:cNvSpPr/>
          <p:nvPr/>
        </p:nvSpPr>
        <p:spPr>
          <a:xfrm>
            <a:off x="5428717" y="501114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Dlaczego jakość ma znaczenie?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419824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Bo od niej zależy, czy AI w ogóle się przyda.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681188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AI nie naprawia złych danych.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356682" y="387439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Ono je tylko </a:t>
            </a:r>
            <a:r>
              <a:rPr lang="en-US" sz="2000" b="1" dirty="0">
                <a:solidFill>
                  <a:srgbClr val="F66A53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szybciej powiela — razy dziesięć.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Dlaczego "Data First, AI Second"?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222051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2000"/>
          </a:p>
        </p:txBody>
      </p:sp>
      <p:sp>
        <p:nvSpPr>
          <p:cNvPr id="5" name="Text 2"/>
          <p:cNvSpPr/>
          <p:nvPr/>
        </p:nvSpPr>
        <p:spPr>
          <a:xfrm>
            <a:off x="4704091" y="225593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247449" y="2285405"/>
            <a:ext cx="2719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Zasada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247449" y="2769691"/>
            <a:ext cx="2719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AI nie naprawia złych danych — przyspiesza ich powielanie.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02903" y="222051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2000"/>
          </a:p>
        </p:txBody>
      </p:sp>
      <p:sp>
        <p:nvSpPr>
          <p:cNvPr id="9" name="Text 6"/>
          <p:cNvSpPr/>
          <p:nvPr/>
        </p:nvSpPr>
        <p:spPr>
          <a:xfrm>
            <a:off x="8273793" y="225593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817151" y="2285405"/>
            <a:ext cx="27193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Przykład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817151" y="2769691"/>
            <a:ext cx="27193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Jedna scalona komórka w Excelu powoduje, że AI błędnie odczytuje sumy — błąd znika w tle automatyzacji.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33201" y="435739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2000"/>
          </a:p>
        </p:txBody>
      </p:sp>
      <p:sp>
        <p:nvSpPr>
          <p:cNvPr id="13" name="Text 10"/>
          <p:cNvSpPr/>
          <p:nvPr/>
        </p:nvSpPr>
        <p:spPr>
          <a:xfrm>
            <a:off x="4704091" y="439281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247449" y="4422279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Wniosek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247449" y="4906566"/>
            <a:ext cx="628902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Najpierw porządek w danych, potem AI jako wzmocnienie — </a:t>
            </a:r>
            <a:r>
              <a:rPr lang="en-US" sz="16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nigdy odwrotnie.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508151"/>
            <a:ext cx="1438636" cy="287139"/>
          </a:xfrm>
          <a:prstGeom prst="roundRect">
            <a:avLst>
              <a:gd name="adj" fmla="val 22118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 sz="2000"/>
          </a:p>
        </p:txBody>
      </p:sp>
      <p:sp>
        <p:nvSpPr>
          <p:cNvPr id="3" name="Text 1"/>
          <p:cNvSpPr/>
          <p:nvPr/>
        </p:nvSpPr>
        <p:spPr>
          <a:xfrm>
            <a:off x="774879" y="2564805"/>
            <a:ext cx="182141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RODZAJE DANYCH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28708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Jakie dane są w Waszej organizacji?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61475" y="374501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Zanim urząd wygeneruje raport, dane przechodzą przez kilka systemów i formatów. Każdy rodzaj wymaga innego traktowania przy pracy z AI.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4987"/>
            <a:ext cx="465126" cy="4651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29023"/>
            <a:ext cx="531987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Dane podstawowe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61475" y="1629569"/>
            <a:ext cx="531987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Lista wydziałów, kontrahentów, struktura budżetu — względnie stałe obiekty.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0244" y="534987"/>
            <a:ext cx="465126" cy="4651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10244" y="1229023"/>
            <a:ext cx="531997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Dane referencyjne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210244" y="1629569"/>
            <a:ext cx="531997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Klasyfikacja budżetowa, kalendarz fiskalny, kody jednostek — słowniki i kody.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586434"/>
            <a:ext cx="465126" cy="4651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3280470"/>
            <a:ext cx="531987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Dane transakcyjne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61475" y="3681016"/>
            <a:ext cx="531987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Faktury, płatności, zapisy księgowe w ERP — pojedyncze zdarzenia finansowe.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0244" y="2586434"/>
            <a:ext cx="465126" cy="4651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10244" y="3280470"/>
            <a:ext cx="531997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Metadane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6210244" y="3681016"/>
            <a:ext cx="531997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Nazwa pliku, data eksportu, autor edycji, numer wersji — dane o danych.</a:t>
            </a:r>
            <a:endParaRPr lang="en-US" sz="14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637881"/>
            <a:ext cx="465126" cy="46513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1475" y="5331916"/>
            <a:ext cx="531987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Dane analityczne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661475" y="5732463"/>
            <a:ext cx="531987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Sumy miesięczne, prognozy kosztów, wskaźniki wykonania budżetu.</a:t>
            </a:r>
            <a:endParaRPr lang="en-US" sz="14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0244" y="4637881"/>
            <a:ext cx="465126" cy="46513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210244" y="5331916"/>
            <a:ext cx="531997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Dane nieustrukturyzowane</a:t>
            </a:r>
            <a:endParaRPr lang="en-US" sz="1800" dirty="0"/>
          </a:p>
        </p:txBody>
      </p:sp>
      <p:sp>
        <p:nvSpPr>
          <p:cNvPr id="19" name="Text 11"/>
          <p:cNvSpPr/>
          <p:nvPr/>
        </p:nvSpPr>
        <p:spPr>
          <a:xfrm>
            <a:off x="6210244" y="5732463"/>
            <a:ext cx="53199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Opisy wydatków, maile, skany PDF faktur — trudniejsze dla AI.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935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Przepływ danych w Waszym urzędzie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21085"/>
            <a:ext cx="10868745" cy="47677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5303" y="4469971"/>
            <a:ext cx="1642671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Plik miesięczny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3955303" y="5141893"/>
            <a:ext cx="1642671" cy="418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Zbieranie i agregacja danych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173680" y="4764100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Prezentacja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173680" y="5141893"/>
            <a:ext cx="1642670" cy="418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Raport dla banku i interesariuszy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03632" y="1649598"/>
            <a:ext cx="1642671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ERP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403632" y="2027391"/>
            <a:ext cx="1642671" cy="628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Źródło transakcji i danych referencyjnych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01093" y="1649598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Plik roczny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601093" y="2027391"/>
            <a:ext cx="1642670" cy="418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Analizy i podsumowania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6118622"/>
            <a:ext cx="1147833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To dokładnie to, co dziś robicie ręcznie — co miesiąc, krok po kroku.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16198"/>
            <a:ext cx="1347853" cy="287139"/>
          </a:xfrm>
          <a:prstGeom prst="roundRect">
            <a:avLst>
              <a:gd name="adj" fmla="val 22118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74879" y="1072852"/>
            <a:ext cx="173062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JAKOŚĆ DANYCH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789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 praktyczne wymiary jakości danych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25305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To nie teoria akademicka — to codzienna checklista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przed wysłaniem zestawienia dalej.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68104"/>
            <a:ext cx="5339820" cy="1442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479" y="2982516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Kompletność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77479" y="3391198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Czy są braki? Puste komórki, brakujący miesiąc, pominięty wydział.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768104"/>
            <a:ext cx="5339919" cy="1442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6305" y="2982516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🔄</a:t>
            </a: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Spójność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506305" y="3391198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Czy formaty się zgadzają? Daty, liczby jako tekst, mieszane waluty.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99459"/>
            <a:ext cx="5339820" cy="1442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7479" y="4613870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📅</a:t>
            </a: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Aktualność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977479" y="5022552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Czy dane są z właściwego okresu? Eksport ERP na koniec miesiąca, nie sprzed dwóch tygodni.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4399459"/>
            <a:ext cx="5339919" cy="144234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06305" y="4613870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🎯</a:t>
            </a: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Dokładność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6506305" y="5022552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Czy liczby są poprawne? Brak literówek, brak przesuniętych wartości przy ręcznym kopiowaniu.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Niezauważony błąd w Excelu = błąd w raporcie dla banku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Każdy z czterech błędów jakości, jeśli nie zostanie wychwycony na etapie arkusza, trafia prosto do prezentacji dla kluczowych interesariuszy.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5547"/>
            <a:ext cx="1461952" cy="255786"/>
          </a:xfrm>
          <a:prstGeom prst="roundRect">
            <a:avLst>
              <a:gd name="adj" fmla="val 22114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62477" y="616049"/>
            <a:ext cx="1869532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NAJCZĘSTSZE BŁĘDY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81261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Pułapki w arkuszach Excel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632148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Lista bazuje na typowych sytuacjach przy ręcznym przenoszeniu danych z ERP — dokładnie tak, jak wygląda Wasz miesięczny proces.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576" y="2060625"/>
            <a:ext cx="252505" cy="2525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8454" y="2055416"/>
            <a:ext cx="1032176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Scalone komórki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208454" y="2408337"/>
            <a:ext cx="103217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AI i formuły źle je odczytują — wartość "znika" z jednej z połączonych komórek.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576" y="2967980"/>
            <a:ext cx="252505" cy="2525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8454" y="2962771"/>
            <a:ext cx="1032176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Niespójne formaty dat i liczb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208454" y="3315692"/>
            <a:ext cx="103217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Tekst zamiast liczby, DD.MM.RRRR pomieszany z RRRR-MM-DD w tej samej kolumnie.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576" y="3875336"/>
            <a:ext cx="252505" cy="2525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8454" y="3870127"/>
            <a:ext cx="1032176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Brakujące nagłówki kolumn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208454" y="4223048"/>
            <a:ext cx="103217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AI — jak nowa osoba w zespole — nie wie, co oznacza kolumna "kol7".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576" y="4782691"/>
            <a:ext cx="252505" cy="2525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8454" y="4777482"/>
            <a:ext cx="1032176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Ukryte wiersze lub kolumny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1208454" y="5130403"/>
            <a:ext cx="103217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Łatwo przeoczyć podczas kopiowania, a wpływają na sumy i obliczenia.</a:t>
            </a: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576" y="5690046"/>
            <a:ext cx="252505" cy="2525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08454" y="5684838"/>
            <a:ext cx="1032176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Ręczne kopiowanie z ERP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208454" y="6037759"/>
            <a:ext cx="103217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Każde kliknięcie to okazja do literówki lub pominięcia wiersza.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61902"/>
            <a:ext cx="1448359" cy="287139"/>
          </a:xfrm>
          <a:prstGeom prst="roundRect">
            <a:avLst>
              <a:gd name="adj" fmla="val 22118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74879" y="1618555"/>
            <a:ext cx="183113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PROCESY DANYCH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246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Uproszczony przepływ przetwarzania danych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301138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1918743" y="3011388"/>
            <a:ext cx="25399" cy="567035"/>
          </a:xfrm>
          <a:prstGeom prst="roundRect">
            <a:avLst>
              <a:gd name="adj" fmla="val 50001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1718823" y="279876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1789713" y="283418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0482" y="3767435"/>
            <a:ext cx="21619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Źródło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50482" y="4176117"/>
            <a:ext cx="216192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ERP, arkusze Excel, systemy zewnętrzne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694914" y="3011388"/>
            <a:ext cx="25399" cy="567035"/>
          </a:xfrm>
          <a:prstGeom prst="roundRect">
            <a:avLst>
              <a:gd name="adj" fmla="val 50001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4494993" y="279876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565883" y="283418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26652" y="3767435"/>
            <a:ext cx="2162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Zbiór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3626652" y="4176117"/>
            <a:ext cx="216202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eksport danych do pliku / bazy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471183" y="3011388"/>
            <a:ext cx="25399" cy="567035"/>
          </a:xfrm>
          <a:prstGeom prst="roundRect">
            <a:avLst>
              <a:gd name="adj" fmla="val 50001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7271263" y="279876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7342153" y="283418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2922" y="3767435"/>
            <a:ext cx="2162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Czyszczenie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402922" y="4176117"/>
            <a:ext cx="216202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weryfikacja formatów, usuwanie błędów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10247453" y="3011388"/>
            <a:ext cx="25399" cy="567035"/>
          </a:xfrm>
          <a:prstGeom prst="roundRect">
            <a:avLst>
              <a:gd name="adj" fmla="val 50001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2" name="Shape 20"/>
          <p:cNvSpPr/>
          <p:nvPr/>
        </p:nvSpPr>
        <p:spPr>
          <a:xfrm>
            <a:off x="10047532" y="279876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10118422" y="283418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79191" y="3767435"/>
            <a:ext cx="2162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Analiza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9179191" y="4176117"/>
            <a:ext cx="216202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raport, zestawienie, decyzja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56682" y="499358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Dziś robicie to ręcznie. W kolejnych dniach szkolenia część tej pracy przejmie </a:t>
            </a:r>
            <a:r>
              <a:rPr lang="en-US" sz="1450" b="1" dirty="0">
                <a:solidFill>
                  <a:srgbClr val="F66A53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Claude Code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4861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Hurtownie danych — jedno miejsce prawdy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313384"/>
            <a:ext cx="6296860" cy="3695898"/>
          </a:xfrm>
          <a:prstGeom prst="roundRect">
            <a:avLst>
              <a:gd name="adj" fmla="val 2148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2"/>
          <p:cNvSpPr/>
          <p:nvPr/>
        </p:nvSpPr>
        <p:spPr>
          <a:xfrm>
            <a:off x="5239710" y="2319734"/>
            <a:ext cx="3142080" cy="2291655"/>
          </a:xfrm>
          <a:custGeom>
            <a:avLst/>
            <a:gdLst/>
            <a:ahLst/>
            <a:cxnLst/>
            <a:rect l="l" t="t" r="r" b="b"/>
            <a:pathLst>
              <a:path w="3142080" h="2291655">
                <a:moveTo>
                  <a:pt x="66156" y="0"/>
                </a:moveTo>
                <a:lnTo>
                  <a:pt x="3142080" y="0"/>
                </a:lnTo>
                <a:lnTo>
                  <a:pt x="3142080" y="2291655"/>
                </a:lnTo>
                <a:lnTo>
                  <a:pt x="0" y="2291655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5428717" y="2508746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Problem dziś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917428"/>
            <a:ext cx="27640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Wiele wersji tego samego pliku, rozproszonych na różnych dyskach i w różnych folderach.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381790" y="2319734"/>
            <a:ext cx="3142080" cy="2291655"/>
          </a:xfrm>
          <a:custGeom>
            <a:avLst/>
            <a:gdLst/>
            <a:ahLst/>
            <a:cxnLst/>
            <a:rect l="l" t="t" r="r" b="b"/>
            <a:pathLst>
              <a:path w="3142080" h="2291655">
                <a:moveTo>
                  <a:pt x="0" y="0"/>
                </a:moveTo>
                <a:lnTo>
                  <a:pt x="3075924" y="0"/>
                </a:lnTo>
                <a:arcTo wR="66156" hR="66158" stAng="16200000" swAng="5400000"/>
                <a:lnTo>
                  <a:pt x="3142080" y="2291655"/>
                </a:lnTo>
                <a:lnTo>
                  <a:pt x="0" y="2291655"/>
                </a:lnTo>
                <a:lnTo>
                  <a:pt x="0" y="0"/>
                </a:lnTo>
                <a:close/>
              </a:path>
            </a:pathLst>
          </a:cu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Shape 6"/>
          <p:cNvSpPr/>
          <p:nvPr/>
        </p:nvSpPr>
        <p:spPr>
          <a:xfrm>
            <a:off x="8381790" y="2319734"/>
            <a:ext cx="25399" cy="2291655"/>
          </a:xfrm>
          <a:prstGeom prst="roundRect">
            <a:avLst>
              <a:gd name="adj" fmla="val 50001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8570797" y="2508746"/>
            <a:ext cx="276406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Cel: Single Source of Truth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570797" y="3212703"/>
            <a:ext cx="276406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Hurtownia danych to archiwum + magazyn — zawsze bierzesz z niego to samo, bez ryzyka rozjazdu wersji.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39710" y="4611390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325385"/>
                </a:lnTo>
                <a:arcTo wR="66156" hR="66158" stAng="0" swAng="5400000"/>
                <a:lnTo>
                  <a:pt x="66156" y="1391543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Shape 10"/>
          <p:cNvSpPr/>
          <p:nvPr/>
        </p:nvSpPr>
        <p:spPr>
          <a:xfrm>
            <a:off x="5239710" y="4611390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1"/>
          <p:cNvSpPr/>
          <p:nvPr/>
        </p:nvSpPr>
        <p:spPr>
          <a:xfrm>
            <a:off x="5428717" y="480040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Kierunek dojrzałości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428717" y="5209084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Nie zadanie na to szkolenie — ale warto rozumieć, gdzie kończy się ręczna praca, a zaczyna ryzyko błędu.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86420"/>
            <a:ext cx="970831" cy="287139"/>
          </a:xfrm>
          <a:prstGeom prst="roundRect">
            <a:avLst>
              <a:gd name="adj" fmla="val 22118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74879" y="943074"/>
            <a:ext cx="135360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METADANE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491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Metadane — "dane o danych"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31229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Przykłady z Waszej pracy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796580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Nazwa pliku: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budzet_wrzesien_2026_v3.xlsx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Data modyfikacji: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2026-09-30 17:42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Autor edycji: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Jan Kowalski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Numer wersji: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v3 (finalna)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417120"/>
            <a:ext cx="5203794" cy="1341834"/>
          </a:xfrm>
          <a:prstGeom prst="roundRect">
            <a:avLst>
              <a:gd name="adj" fmla="val 5916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697512"/>
            <a:ext cx="236234" cy="189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5723" y="4634409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Konsekwentne nazewnictwo plików to najprostsza, darmowa poprawa jakości danych — do wdrożenia od jutra.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332776" y="231229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Dlaczego to ważne dla AI?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332776" y="2796580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Claude "widzi" tylko to, co mu pokażecie. Dobrze opisane metadane — czytelne nazwy arkuszy, jasne nagłówki, opisane wersje — sprawiają, że AI rozumie dane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szybciej i trafniej.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Unikacie też klasycznej pomyłki: </a:t>
            </a:r>
            <a:r>
              <a:rPr lang="en-US" sz="14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"który to plik był aktualny?"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408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Jakość danych = jakość raportu dla banku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788" y="1109414"/>
            <a:ext cx="8737381" cy="487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138763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 końcu łańcucha </a:t>
            </a:r>
            <a:r>
              <a:rPr lang="en-US" sz="1050" b="1" dirty="0">
                <a:solidFill>
                  <a:srgbClr val="F66A53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nikt już nie widzi, gdzie powstał błąd</a:t>
            </a: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a decyzje podejmowane są na błędnych danych.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9157249" cy="6858000"/>
            <a:chOff x="0" y="0"/>
            <a:chExt cx="9157259" cy="6858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57214" cy="6858000"/>
            </a:xfrm>
            <a:custGeom>
              <a:avLst/>
              <a:gdLst/>
              <a:ahLst/>
              <a:cxnLst/>
              <a:rect l="l" t="t" r="r" b="b"/>
              <a:pathLst>
                <a:path w="9157214" h="6858000">
                  <a:moveTo>
                    <a:pt x="0" y="0"/>
                  </a:moveTo>
                  <a:lnTo>
                    <a:pt x="9157214" y="0"/>
                  </a:lnTo>
                  <a:lnTo>
                    <a:pt x="9157214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13837" y="1124836"/>
            <a:ext cx="8001000" cy="5321303"/>
            <a:chOff x="0" y="0"/>
            <a:chExt cx="10668000" cy="70950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68000" cy="7095109"/>
            </a:xfrm>
            <a:custGeom>
              <a:avLst/>
              <a:gdLst/>
              <a:ahLst/>
              <a:cxnLst/>
              <a:rect l="l" t="t" r="r" b="b"/>
              <a:pathLst>
                <a:path w="10668000" h="7095109">
                  <a:moveTo>
                    <a:pt x="0" y="0"/>
                  </a:moveTo>
                  <a:lnTo>
                    <a:pt x="10668000" y="0"/>
                  </a:lnTo>
                  <a:lnTo>
                    <a:pt x="10668000" y="7095109"/>
                  </a:lnTo>
                  <a:lnTo>
                    <a:pt x="0" y="7095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003468" y="133793"/>
            <a:ext cx="4322274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dirty="0">
                <a:solidFill>
                  <a:srgbClr val="2B2B2D"/>
                </a:solidFill>
                <a:latin typeface="Bebas Neue"/>
                <a:ea typeface="Bebas Neue"/>
                <a:cs typeface="Bebas Neue"/>
                <a:sym typeface="Bebas Neue"/>
              </a:rPr>
              <a:t>MARS – 1976 (VIKING)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8952" cy="6858000"/>
            </a:xfrm>
            <a:custGeom>
              <a:avLst/>
              <a:gdLst/>
              <a:ahLst/>
              <a:cxnLst/>
              <a:rect l="l" t="t" r="r" b="b"/>
              <a:pathLst>
                <a:path w="12188952" h="6858000"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9157249" cy="6858000"/>
            <a:chOff x="0" y="0"/>
            <a:chExt cx="9157259" cy="6858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57214" cy="6858000"/>
            </a:xfrm>
            <a:custGeom>
              <a:avLst/>
              <a:gdLst/>
              <a:ahLst/>
              <a:cxnLst/>
              <a:rect l="l" t="t" r="r" b="b"/>
              <a:pathLst>
                <a:path w="9157214" h="6858000">
                  <a:moveTo>
                    <a:pt x="0" y="0"/>
                  </a:moveTo>
                  <a:lnTo>
                    <a:pt x="9157214" y="0"/>
                  </a:lnTo>
                  <a:lnTo>
                    <a:pt x="9157214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266122" y="818291"/>
            <a:ext cx="6891082" cy="5795059"/>
            <a:chOff x="0" y="0"/>
            <a:chExt cx="10668000" cy="85005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68000" cy="8500491"/>
            </a:xfrm>
            <a:custGeom>
              <a:avLst/>
              <a:gdLst/>
              <a:ahLst/>
              <a:cxnLst/>
              <a:rect l="l" t="t" r="r" b="b"/>
              <a:pathLst>
                <a:path w="10668000" h="8500491">
                  <a:moveTo>
                    <a:pt x="0" y="0"/>
                  </a:moveTo>
                  <a:lnTo>
                    <a:pt x="10668000" y="0"/>
                  </a:lnTo>
                  <a:lnTo>
                    <a:pt x="10668000" y="8500491"/>
                  </a:lnTo>
                  <a:lnTo>
                    <a:pt x="0" y="8500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3A336A5-452C-E323-904D-FD0374236A00}"/>
              </a:ext>
            </a:extLst>
          </p:cNvPr>
          <p:cNvSpPr txBox="1"/>
          <p:nvPr/>
        </p:nvSpPr>
        <p:spPr>
          <a:xfrm>
            <a:off x="2667000" y="-69832"/>
            <a:ext cx="6155634" cy="95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dirty="0">
                <a:solidFill>
                  <a:srgbClr val="2B2B2D"/>
                </a:solidFill>
                <a:latin typeface="Bebas Neue"/>
                <a:ea typeface="Bebas Neue"/>
                <a:cs typeface="Bebas Neue"/>
                <a:sym typeface="Bebas Neue"/>
              </a:rPr>
              <a:t>MARS – 2025 (to </a:t>
            </a:r>
            <a:r>
              <a:rPr lang="en-US" sz="4999" dirty="0" err="1">
                <a:solidFill>
                  <a:srgbClr val="2B2B2D"/>
                </a:solidFill>
                <a:latin typeface="Bebas Neue"/>
                <a:ea typeface="Bebas Neue"/>
                <a:cs typeface="Bebas Neue"/>
                <a:sym typeface="Bebas Neue"/>
              </a:rPr>
              <a:t>tylko</a:t>
            </a:r>
            <a:r>
              <a:rPr lang="en-US" sz="4999" dirty="0">
                <a:solidFill>
                  <a:srgbClr val="2B2B2D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r>
              <a:rPr lang="en-US" sz="4999" dirty="0" err="1">
                <a:solidFill>
                  <a:srgbClr val="2B2B2D"/>
                </a:solidFill>
                <a:latin typeface="Bebas Neue"/>
                <a:ea typeface="Bebas Neue"/>
                <a:cs typeface="Bebas Neue"/>
                <a:sym typeface="Bebas Neue"/>
              </a:rPr>
              <a:t>góra</a:t>
            </a:r>
            <a:r>
              <a:rPr lang="en-US" sz="4999" dirty="0">
                <a:solidFill>
                  <a:srgbClr val="2B2B2D"/>
                </a:solidFill>
                <a:latin typeface="Bebas Neue"/>
                <a:ea typeface="Bebas Neue"/>
                <a:cs typeface="Bebas Neue"/>
                <a:sym typeface="Bebas Neue"/>
              </a:rPr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8D29D-DBB5-2301-E164-EE7204EA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C715C-BB39-C975-5AC2-A7D550017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pl-PL" dirty="0"/>
              <a:t>INTERPRETOWALNOŚĆ MODELI ML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D4654-3546-7509-EA9C-5077905CB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11189"/>
            <a:ext cx="10363200" cy="422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42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3868D-CF43-6E18-3E4B-B4CA92DB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0968F-1D46-2736-DBB0-BD904E8D2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pl-PL" dirty="0"/>
              <a:t>INTERPRETOWALNOŚĆ MODELI ML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6EEA53-F4CC-AFFD-C73F-D326730FE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00" y="1680736"/>
            <a:ext cx="60452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87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C0804-3CDC-92FE-ECE4-2B39B8639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19F06-E6CB-38F5-693A-4C906A64B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INTERPRETOWALNOŚĆ MODELI 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C7CE41-631E-9F53-221F-134D0D581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757" y="1665248"/>
            <a:ext cx="6639459" cy="447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170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0391FC15-4CFD-159E-6409-FE90C603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">
            <a:extLst>
              <a:ext uri="{FF2B5EF4-FFF2-40B4-BE49-F238E27FC236}">
                <a16:creationId xmlns:a16="http://schemas.microsoft.com/office/drawing/2014/main" id="{278D15FE-DBBD-623C-18C7-5124CB00B5FD}"/>
              </a:ext>
            </a:extLst>
          </p:cNvPr>
          <p:cNvSpPr/>
          <p:nvPr/>
        </p:nvSpPr>
        <p:spPr>
          <a:xfrm>
            <a:off x="648307" y="379755"/>
            <a:ext cx="10501355" cy="76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4624"/>
              </a:lnSpc>
              <a:buClr>
                <a:srgbClr val="000000"/>
              </a:buClr>
            </a:pPr>
            <a:r>
              <a:rPr lang="en-US" sz="3707" b="1" kern="0" noProof="1">
                <a:solidFill>
                  <a:srgbClr val="FFFFFF"/>
                </a:solidFill>
                <a:latin typeface="Sitka Small Semibold" pitchFamily="2" charset="0"/>
                <a:ea typeface="Space Grotesk Bold" pitchFamily="34" charset="-122"/>
                <a:cs typeface="Space Grotesk Bold" pitchFamily="34" charset="-120"/>
                <a:sym typeface="Arial"/>
              </a:rPr>
              <a:t>Adversarial attack</a:t>
            </a:r>
            <a:endParaRPr lang="en-US" sz="3707" kern="0" noProof="1">
              <a:solidFill>
                <a:srgbClr val="000000"/>
              </a:solidFill>
              <a:latin typeface="Sitka Small Semibold" pitchFamily="2" charset="0"/>
              <a:cs typeface="Arial"/>
              <a:sym typeface="Arial"/>
            </a:endParaRPr>
          </a:p>
        </p:txBody>
      </p:sp>
      <p:pic>
        <p:nvPicPr>
          <p:cNvPr id="4" name="Picture 3" descr="The security of deep learning defences for medical imaging | Adversa AI">
            <a:extLst>
              <a:ext uri="{FF2B5EF4-FFF2-40B4-BE49-F238E27FC236}">
                <a16:creationId xmlns:a16="http://schemas.microsoft.com/office/drawing/2014/main" id="{134E5560-7614-8D20-C132-5EA073D03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3757"/>
            <a:ext cx="12249277" cy="552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23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81733"/>
            <a:ext cx="1369184" cy="287139"/>
          </a:xfrm>
          <a:prstGeom prst="roundRect">
            <a:avLst>
              <a:gd name="adj" fmla="val 22118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74879" y="1538387"/>
            <a:ext cx="175196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AUTOMATYZACJA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444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Co AI automatyzuje, a czego nie?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525350" y="2718594"/>
            <a:ext cx="5476043" cy="2657673"/>
          </a:xfrm>
          <a:prstGeom prst="roundRect">
            <a:avLst>
              <a:gd name="adj" fmla="val 5121"/>
            </a:avLst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14357" y="2907605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AI dobrze automatyzuje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3391892"/>
            <a:ext cx="509802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Powtarzalne przenoszenie danych między plikami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Sprawdzanie formatów i spójności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Wykrywanie niespójności i braków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Generowanie raportów z uporządkowanych danych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29076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AI nie zastępuje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3391892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Decyzji merytorycznej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Ostatecznej weryfikacji liczb wiążących prawnie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Odpowiedzialności finansowej urzędu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460136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Human in the Loop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człowiek zawsze podejmuje ostateczną decyzję i odpowiada za wynik.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3835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Zasady bezpiecznego użycia danych w Claude</a:t>
            </a:r>
            <a:endParaRPr lang="en-US" sz="3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462213"/>
            <a:ext cx="10868745" cy="1933476"/>
          </a:xfrm>
          <a:prstGeom prst="roundRect">
            <a:avLst>
              <a:gd name="adj" fmla="val 4106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67825" y="2468563"/>
            <a:ext cx="5428023" cy="1920776"/>
          </a:xfrm>
          <a:custGeom>
            <a:avLst/>
            <a:gdLst/>
            <a:ahLst/>
            <a:cxnLst/>
            <a:rect l="l" t="t" r="r" b="b"/>
            <a:pathLst>
              <a:path w="5428023" h="1920776">
                <a:moveTo>
                  <a:pt x="66156" y="0"/>
                </a:moveTo>
                <a:lnTo>
                  <a:pt x="5428023" y="0"/>
                </a:lnTo>
                <a:lnTo>
                  <a:pt x="5428023" y="1920776"/>
                </a:lnTo>
                <a:lnTo>
                  <a:pt x="66156" y="1920776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856832" y="2657574"/>
            <a:ext cx="47665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Wolno używać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066256"/>
            <a:ext cx="4766548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Dane zanonimizowane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Dane ogólnodostępne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Dane zatwierdzone do automatyzacji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095848" y="2468563"/>
            <a:ext cx="5428023" cy="1920776"/>
          </a:xfrm>
          <a:custGeom>
            <a:avLst/>
            <a:gdLst/>
            <a:ahLst/>
            <a:cxnLst/>
            <a:rect l="l" t="t" r="r" b="b"/>
            <a:pathLst>
              <a:path w="5428023" h="1920776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1854618"/>
                </a:lnTo>
                <a:arcTo wR="66156" hR="66158" stAng="0" swAng="5400000"/>
                <a:lnTo>
                  <a:pt x="0" y="1920776"/>
                </a:lnTo>
                <a:lnTo>
                  <a:pt x="0" y="0"/>
                </a:lnTo>
                <a:close/>
              </a:path>
            </a:pathLst>
          </a:cu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6095848" y="2468563"/>
            <a:ext cx="25399" cy="1920776"/>
          </a:xfrm>
          <a:prstGeom prst="roundRect">
            <a:avLst>
              <a:gd name="adj" fmla="val 50001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6568315" y="2657574"/>
            <a:ext cx="47665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Absolutnie nie wolno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568315" y="3066256"/>
            <a:ext cx="4766548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Dane osobowe (AI Act)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Jakiekolwiek dane poufne urzędu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859614" y="3192661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FBF3ED"/>
          </a:solidFill>
          <a:ln w="25399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7681" y="3310731"/>
            <a:ext cx="236234" cy="2362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77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Jak pracujemy na danych podczas szkolenia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0639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Cała reszta szkolenia (Dzień 2 i Dzień 3) będzie działać na </a:t>
            </a: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danych fikcyjnych lub zanonimizowanych</a:t>
            </a: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wzorowanych na Waszych realnych procesach — nie na prawdziwym budżecie miasta.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52385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819723"/>
            <a:ext cx="3496877" cy="25400"/>
          </a:xfrm>
          <a:prstGeom prst="rect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61475" y="396498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Dane wzorcowe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4373662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Struktura identyczna jak realna, ale wartości są fikcyjne.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47359" y="352385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3819723"/>
            <a:ext cx="3496877" cy="25400"/>
          </a:xfrm>
          <a:prstGeom prst="rect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347359" y="396498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Anonimizacja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347359" y="4373662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Żadnych nazwisk, numerów NIP, danych osobowych.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33244" y="352385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33244" y="3819723"/>
            <a:ext cx="3496877" cy="25400"/>
          </a:xfrm>
          <a:prstGeom prst="rect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8033244" y="396498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Pełna użyteczność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033244" y="4373662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Możecie ćwiczyć wszystkie techniki bezpiecznie i legalnie.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0546"/>
            <a:ext cx="10868745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Pytania?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356682" y="322996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Sprawdźmy razem: czy Wasze dane są gotowe na AI?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745012"/>
            <a:ext cx="5339820" cy="1442343"/>
          </a:xfrm>
          <a:prstGeom prst="roundRect">
            <a:avLst>
              <a:gd name="adj" fmla="val 5504"/>
            </a:avLst>
          </a:prstGeom>
          <a:solidFill>
            <a:srgbClr val="FBF3ED"/>
          </a:solidFill>
          <a:ln w="25399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875881" y="3959423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Ćwiczenie praktyczne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75881" y="4368105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Weź dowolny arkusz miesięczny. Sprawdź go przez pryzmat 5 punktów z checklisty. Co znajdziesz?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301" y="3745012"/>
            <a:ext cx="5339919" cy="1442343"/>
          </a:xfrm>
          <a:prstGeom prst="roundRect">
            <a:avLst>
              <a:gd name="adj" fmla="val 5504"/>
            </a:avLst>
          </a:prstGeom>
          <a:solidFill>
            <a:srgbClr val="FBF3ED"/>
          </a:solidFill>
          <a:ln w="25399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6404708" y="3959423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Do przemyślenia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404708" y="4368105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Gdzie w Waszym procesie najczęściej "wkrada się" błąd? Na etapie eksportu z ERP, kopiowania, czy transformacji?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1103</Words>
  <Application>Microsoft Office PowerPoint</Application>
  <PresentationFormat>Widescreen</PresentationFormat>
  <Paragraphs>171</Paragraphs>
  <Slides>25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Arial</vt:lpstr>
      <vt:lpstr>Bebas Neue</vt:lpstr>
      <vt:lpstr>Poppins SemiBold</vt:lpstr>
      <vt:lpstr>Noto Color Emoji</vt:lpstr>
      <vt:lpstr>Geologica</vt:lpstr>
      <vt:lpstr>Sitka Small Semibold</vt:lpstr>
      <vt:lpstr>Karla</vt:lpstr>
      <vt:lpstr>Geologica Light</vt:lpstr>
      <vt:lpstr>Geologica SemiBold</vt:lpstr>
      <vt:lpstr>Karla Bold</vt:lpstr>
      <vt:lpstr>Inter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INTERPRETOWALNOŚĆ MODELI ML</vt:lpstr>
      <vt:lpstr>INTERPRETOWALNOŚĆ MODELI ML</vt:lpstr>
      <vt:lpstr>INTERPRETOWALNOŚĆ MODELI ML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Kasper</dc:creator>
  <cp:lastModifiedBy>Kasper Kalfas</cp:lastModifiedBy>
  <cp:revision>2</cp:revision>
  <dcterms:created xsi:type="dcterms:W3CDTF">2026-09-19T11:50:26Z</dcterms:created>
  <dcterms:modified xsi:type="dcterms:W3CDTF">2026-09-19T12:10:54Z</dcterms:modified>
</cp:coreProperties>
</file>