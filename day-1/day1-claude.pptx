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573" r:id="rId2"/>
    <p:sldId id="501" r:id="rId3"/>
    <p:sldId id="264" r:id="rId4"/>
    <p:sldId id="504" r:id="rId5"/>
    <p:sldId id="261" r:id="rId6"/>
    <p:sldId id="265" r:id="rId7"/>
  </p:sldIdLst>
  <p:sldSz cx="9144000" cy="5143500" type="screen16x9"/>
  <p:notesSz cx="6858000" cy="9144000"/>
  <p:embeddedFontLst>
    <p:embeddedFont>
      <p:font typeface="Geologica" pitchFamily="2" charset="0"/>
      <p:regular r:id="rId9"/>
      <p:bold r:id="rId10"/>
    </p:embeddedFont>
    <p:embeddedFont>
      <p:font typeface="Geologica Light" pitchFamily="2" charset="0"/>
      <p:regular r:id="rId11"/>
      <p:bold r:id="rId12"/>
    </p:embeddedFont>
    <p:embeddedFont>
      <p:font typeface="Geologica Medium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080">
          <p15:clr>
            <a:srgbClr val="747775"/>
          </p15:clr>
        </p15:guide>
        <p15:guide id="2" pos="5533">
          <p15:clr>
            <a:srgbClr val="747775"/>
          </p15:clr>
        </p15:guide>
        <p15:guide id="3" orient="horz" pos="170">
          <p15:clr>
            <a:srgbClr val="747775"/>
          </p15:clr>
        </p15:guide>
        <p15:guide id="4" orient="horz" pos="3070">
          <p15:clr>
            <a:srgbClr val="747775"/>
          </p15:clr>
        </p15:guide>
        <p15:guide id="5" pos="227">
          <p15:clr>
            <a:srgbClr val="747775"/>
          </p15:clr>
        </p15:guide>
        <p15:guide id="6" pos="2880">
          <p15:clr>
            <a:srgbClr val="747775"/>
          </p15:clr>
        </p15:guide>
        <p15:guide id="7" pos="680">
          <p15:clr>
            <a:srgbClr val="747775"/>
          </p15:clr>
        </p15:guide>
        <p15:guide id="8" pos="2653">
          <p15:clr>
            <a:srgbClr val="747775"/>
          </p15:clr>
        </p15:guide>
        <p15:guide id="9" orient="horz" pos="965">
          <p15:clr>
            <a:srgbClr val="747775"/>
          </p15:clr>
        </p15:guide>
        <p15:guide id="10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/>
    <p:restoredTop sz="94658"/>
  </p:normalViewPr>
  <p:slideViewPr>
    <p:cSldViewPr snapToGrid="0">
      <p:cViewPr varScale="1">
        <p:scale>
          <a:sx n="120" d="100"/>
          <a:sy n="120" d="100"/>
        </p:scale>
        <p:origin x="900" y="76"/>
      </p:cViewPr>
      <p:guideLst>
        <p:guide pos="5080"/>
        <p:guide pos="5533"/>
        <p:guide orient="horz" pos="170"/>
        <p:guide orient="horz" pos="3070"/>
        <p:guide pos="227"/>
        <p:guide pos="2880"/>
        <p:guide pos="680"/>
        <p:guide pos="2653"/>
        <p:guide orient="horz" pos="96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78498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D3C42-3D02-C590-3A7D-D4FFE6F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7EC483-03BB-761C-D21D-69FF4BA9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B91D15-965F-9226-4E84-B961F57E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3576-D00D-4CF1-841E-9D085B8CC14A}" type="datetimeFigureOut">
              <a:rPr lang="pl-PL" smtClean="0"/>
              <a:t>19.09.2026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1FCBD-4769-4CBF-6A25-4E53D77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DAAA9-E562-0144-4F0C-6C80BF4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D71-6E2F-4AB3-B3DD-360C297AD6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2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416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750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091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619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145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794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BF3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logica"/>
              <a:buNone/>
              <a:defRPr sz="2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logica Light"/>
              <a:buChar char="●"/>
              <a:defRPr sz="1800"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6" r:id="rId3"/>
    <p:sldLayoutId id="2147483657" r:id="rId4"/>
    <p:sldLayoutId id="2147483681" r:id="rId5"/>
    <p:sldLayoutId id="2147483689" r:id="rId6"/>
    <p:sldLayoutId id="2147483692" r:id="rId7"/>
    <p:sldLayoutId id="2147483694" r:id="rId8"/>
    <p:sldLayoutId id="2147483697" r:id="rId9"/>
    <p:sldLayoutId id="2147483698" r:id="rId10"/>
    <p:sldLayoutId id="21474837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13D4-7B93-0439-1D58-8AA036BC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C3CAF7-063F-B1A8-C0FE-66C4216890E6}"/>
              </a:ext>
            </a:extLst>
          </p:cNvPr>
          <p:cNvSpPr txBox="1"/>
          <p:nvPr/>
        </p:nvSpPr>
        <p:spPr>
          <a:xfrm>
            <a:off x="1139810" y="2110085"/>
            <a:ext cx="6949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6000" b="1" dirty="0">
                <a:solidFill>
                  <a:srgbClr val="F66953"/>
                </a:solidFill>
                <a:latin typeface="Geologica Medium"/>
              </a:rPr>
              <a:t>Claude</a:t>
            </a:r>
            <a:endParaRPr sz="6000" b="1" i="0" dirty="0">
              <a:solidFill>
                <a:srgbClr val="F66953"/>
              </a:solidFill>
              <a:latin typeface="Geologic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306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6930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Claude.ai – Twój Darmowy Partner w Pracy</a:t>
            </a:r>
            <a:endParaRPr lang="en-US" sz="275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256788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Rozdział poświęcony praktycznemu wykorzystaniu Claude.ai — jednego z najpotężniejszych bezpłatnych asystentów AI dostępnych dziś dla każdego profesjonalisty.</a:t>
            </a:r>
            <a:endParaRPr lang="en-US" sz="11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25119" y="3407792"/>
            <a:ext cx="2122884" cy="266402"/>
          </a:xfrm>
          <a:prstGeom prst="roundRect">
            <a:avLst>
              <a:gd name="adj" fmla="val 17880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10174" y="3450282"/>
            <a:ext cx="19527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SZTUCZNA INTELIGENCJA W PRAKTYCE</a:t>
            </a:r>
            <a:endParaRPr lang="en-US" sz="85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5763"/>
            <a:ext cx="507042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Anatomia Idealnego Promptu</a:t>
            </a:r>
            <a:endParaRPr lang="en-US" sz="27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8379" y="1096566"/>
            <a:ext cx="696367" cy="260821"/>
          </a:xfrm>
          <a:prstGeom prst="roundRect">
            <a:avLst>
              <a:gd name="adj" fmla="val 1797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2095" y="1138386"/>
            <a:ext cx="52893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WARSZTAT</a:t>
            </a:r>
            <a:endParaRPr lang="en-US" sz="8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8379" y="1511871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Formuła </a:t>
            </a:r>
            <a:r>
              <a:rPr lang="en-US" sz="1050" b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P.K.Z.O.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Prompting dla każdego.</a:t>
            </a:r>
            <a:endParaRPr lang="en-US" sz="105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8379" y="1887810"/>
            <a:ext cx="4014936" cy="1255514"/>
          </a:xfrm>
          <a:prstGeom prst="roundRect">
            <a:avLst>
              <a:gd name="adj" fmla="val 4668"/>
            </a:avLst>
          </a:prstGeom>
          <a:solidFill>
            <a:srgbClr val="FBF3ED"/>
          </a:solidFill>
          <a:ln w="190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7429" y="1906860"/>
            <a:ext cx="3976836" cy="418654"/>
          </a:xfrm>
          <a:prstGeom prst="roundRect">
            <a:avLst>
              <a:gd name="adj" fmla="val 8540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91147" y="1982986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1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6956" y="246288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Persona</a:t>
            </a:r>
            <a:endParaRPr lang="en-US" sz="135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956" y="2763292"/>
            <a:ext cx="36977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„Jesteś ekspertem finansowym..."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nadaj Claude rolę.</a:t>
            </a:r>
            <a:endParaRPr lang="en-US" sz="105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40684" y="1887810"/>
            <a:ext cx="4014936" cy="1255514"/>
          </a:xfrm>
          <a:prstGeom prst="roundRect">
            <a:avLst>
              <a:gd name="adj" fmla="val 4668"/>
            </a:avLst>
          </a:prstGeom>
          <a:solidFill>
            <a:srgbClr val="FBF3ED"/>
          </a:solidFill>
          <a:ln w="190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59734" y="1906860"/>
            <a:ext cx="3976836" cy="418654"/>
          </a:xfrm>
          <a:prstGeom prst="roundRect">
            <a:avLst>
              <a:gd name="adj" fmla="val 8540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43452" y="1982986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2</a:t>
            </a:r>
            <a:endParaRPr lang="en-US" sz="16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99261" y="246288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Kontekst</a:t>
            </a:r>
            <a:endParaRPr lang="en-US" sz="135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99261" y="2763292"/>
            <a:ext cx="36977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„Pracujemy nad budżetem na 2025 rok..."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opisz sytuację.</a:t>
            </a:r>
            <a:endParaRPr lang="en-US" sz="105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8379" y="3280693"/>
            <a:ext cx="4014936" cy="1476970"/>
          </a:xfrm>
          <a:prstGeom prst="roundRect">
            <a:avLst>
              <a:gd name="adj" fmla="val 3968"/>
            </a:avLst>
          </a:prstGeom>
          <a:solidFill>
            <a:srgbClr val="FBF3ED"/>
          </a:solidFill>
          <a:ln w="190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7429" y="3299743"/>
            <a:ext cx="3976836" cy="418654"/>
          </a:xfrm>
          <a:prstGeom prst="roundRect">
            <a:avLst>
              <a:gd name="adj" fmla="val 8540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91147" y="3375868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3</a:t>
            </a:r>
            <a:endParaRPr lang="en-US" sz="16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956" y="385576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Zadanie</a:t>
            </a:r>
            <a:endParaRPr lang="en-US" sz="135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956" y="4156174"/>
            <a:ext cx="36977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„Stwórz tabelę z podziałem na koszty stałe i zmienne."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konkretny cel.</a:t>
            </a:r>
            <a:endParaRPr lang="en-US" sz="1050" dirty="0">
              <a:latin typeface="+mj-l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40684" y="3280693"/>
            <a:ext cx="4014936" cy="1476970"/>
          </a:xfrm>
          <a:prstGeom prst="roundRect">
            <a:avLst>
              <a:gd name="adj" fmla="val 3968"/>
            </a:avLst>
          </a:prstGeom>
          <a:solidFill>
            <a:srgbClr val="FBF3ED"/>
          </a:solidFill>
          <a:ln w="190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59734" y="3299743"/>
            <a:ext cx="3976836" cy="418654"/>
          </a:xfrm>
          <a:prstGeom prst="roundRect">
            <a:avLst>
              <a:gd name="adj" fmla="val 8540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43452" y="3375868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4</a:t>
            </a:r>
            <a:endParaRPr lang="en-US" sz="16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99261" y="385576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Ograniczenia</a:t>
            </a:r>
            <a:endParaRPr lang="en-US" sz="135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99261" y="4156174"/>
            <a:ext cx="36977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„Użyj PLN, max 10 pozycji, format tabeli."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ramy i format.</a:t>
            </a:r>
            <a:endParaRPr lang="en-US" sz="105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4596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Analiza Dokumentów</a:t>
            </a:r>
            <a:endParaRPr lang="en-US" sz="275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154453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Wyciągnij esencję z setek stron w kilka sekund.</a:t>
            </a:r>
            <a:endParaRPr lang="en-US" sz="1100" dirty="0">
              <a:latin typeface="+mj-l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30822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19794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Co potrafi Claude?</a:t>
            </a:r>
            <a:endParaRPr lang="en-US" sz="135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956816" y="2286000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Streszcza PDF-y, wyszukuje konkretne zapisy w umowach, porównuje dwie oferty obok siebie.</a:t>
            </a:r>
            <a:endParaRPr lang="en-US" sz="1100" dirty="0">
              <a:latin typeface="+mj-lt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2314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071813"/>
            <a:ext cx="1832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Przykładowy prompt</a:t>
            </a:r>
            <a:endParaRPr lang="en-US" sz="135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56816" y="337832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„Wypisz 3 najważniejsze ryzyka z tej umowy najmu."</a:t>
            </a:r>
            <a:endParaRPr lang="en-US" sz="1100" dirty="0">
              <a:latin typeface="+mj-l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888656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937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Dla kogo?</a:t>
            </a:r>
            <a:endParaRPr lang="en-US" sz="1350" dirty="0">
              <a:latin typeface="+mj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56816" y="4243834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Prawnicy, administracja, studenci, menedżerowie — wszyscy, którzy toną w dokumentach.</a:t>
            </a:r>
            <a:endParaRPr lang="en-US" sz="11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0685"/>
            <a:ext cx="562920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Claude jako Programista</a:t>
            </a:r>
            <a:endParaRPr lang="en-US" sz="28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393" y="950714"/>
            <a:ext cx="8291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Kodowanie dla nie-programistów — funkcja </a:t>
            </a:r>
            <a:r>
              <a:rPr lang="en-US" sz="1050" b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Artifacts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zmienia wszystko.</a:t>
            </a:r>
            <a:endParaRPr lang="en-US" sz="105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393" y="1889671"/>
            <a:ext cx="194034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Co możesz wygenerować?</a:t>
            </a:r>
            <a:endParaRPr lang="en-US" dirty="0">
              <a:latin typeface="+mj-lt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83" y="2201577"/>
            <a:ext cx="182687" cy="1826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275" y="219774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Skrypty Python</a:t>
            </a:r>
            <a:endParaRPr lang="en-US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275" y="2492722"/>
            <a:ext cx="218129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Automatyzacje i proste narzędzia analityczne</a:t>
            </a:r>
            <a:endParaRPr lang="en-US" sz="1050" dirty="0">
              <a:latin typeface="+mj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0085" y="2201577"/>
            <a:ext cx="182687" cy="1826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0278" y="219774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Strony HTML</a:t>
            </a:r>
            <a:endParaRPr lang="en-US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530278" y="2492722"/>
            <a:ext cx="218137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Prosta witryna z formularzem kontaktowym — gotowa od razu</a:t>
            </a:r>
            <a:endParaRPr lang="en-US" sz="1050" dirty="0">
              <a:latin typeface="+mj-lt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83" y="3068278"/>
            <a:ext cx="182687" cy="1826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275" y="306444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Formuły Excel</a:t>
            </a:r>
            <a:endParaRPr lang="en-US" dirty="0">
              <a:latin typeface="+mj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22275" y="3359423"/>
            <a:ext cx="48893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Arkusze kalkulacyjne z gotowymi obliczeniami</a:t>
            </a:r>
            <a:endParaRPr lang="en-US" sz="1050" dirty="0">
              <a:latin typeface="+mj-lt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624" y="1367358"/>
            <a:ext cx="2708672" cy="270867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6393" y="4311476"/>
            <a:ext cx="8291215" cy="471339"/>
          </a:xfrm>
          <a:prstGeom prst="roundRect">
            <a:avLst>
              <a:gd name="adj" fmla="val 1085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 sz="1800">
              <a:latin typeface="+mj-lt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08" y="4485680"/>
            <a:ext cx="152251" cy="1218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275" y="4446538"/>
            <a:ext cx="777351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Artifacts wyświetla działającą stronę lub wykres </a:t>
            </a:r>
            <a:r>
              <a:rPr lang="en-US" sz="1050" b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w oknie obok</a:t>
            </a:r>
            <a:r>
              <a:rPr lang="en-US" sz="105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 — możesz to skopiować i wdrożyć natychmiast.</a:t>
            </a:r>
            <a:endParaRPr lang="en-US" sz="105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729" y="576225"/>
            <a:ext cx="5612286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 err="1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Mój</a:t>
            </a:r>
            <a:r>
              <a:rPr lang="en-US" sz="275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 </a:t>
            </a:r>
            <a:r>
              <a:rPr lang="en-US" sz="2750" dirty="0" err="1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Pierwszy</a:t>
            </a:r>
            <a:r>
              <a:rPr lang="en-US" sz="275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 Agent - tooling</a:t>
            </a:r>
            <a:endParaRPr lang="en-US" sz="275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20" y="150472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9288" y="15312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1</a:t>
            </a:r>
            <a:endParaRPr lang="en-US" sz="1650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6817" y="15533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Otwórz Claude.ai</a:t>
            </a:r>
            <a:endParaRPr lang="en-US" sz="1350" dirty="0">
              <a:latin typeface="+mj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6817" y="1859906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Zaloguj się lub utwórz darmowe konto na claude.ai.</a:t>
            </a:r>
            <a:endParaRPr lang="en-US" sz="1100" dirty="0">
              <a:latin typeface="+mj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6120" y="237023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9288" y="239680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2</a:t>
            </a:r>
            <a:endParaRPr lang="en-US" sz="165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56817" y="2418904"/>
            <a:ext cx="19661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Wklej fragment tekstu</a:t>
            </a:r>
            <a:endParaRPr lang="en-US" sz="135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56817" y="2725416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Dowolny artykuł z portalu informacyjnego lub fragment dokumentu z pracy.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96120" y="346256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9288" y="348912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3</a:t>
            </a:r>
            <a:endParaRPr lang="en-US" sz="1650" dirty="0">
              <a:latin typeface="+mj-lt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56817" y="35112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Wydaj polecenie</a:t>
            </a:r>
            <a:endParaRPr lang="en-US" sz="1350" dirty="0">
              <a:latin typeface="+mj-lt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56817" y="3817740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+mj-lt"/>
                <a:ea typeface="Karla" pitchFamily="34" charset="-122"/>
                <a:cs typeface="Karla" pitchFamily="34" charset="-120"/>
              </a:rPr>
              <a:t>„Zrób z tego 3 punktowe wnioski dla mojego szefa i napisz krótką wiadomość na Slack, którą mogę mu wysłać."</a:t>
            </a:r>
            <a:endParaRPr lang="en-US" sz="11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17396</TotalTime>
  <Words>297</Words>
  <Application>Microsoft Office PowerPoint</Application>
  <PresentationFormat>On-screen Show (16:9)</PresentationFormat>
  <Paragraphs>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Geologica Light</vt:lpstr>
      <vt:lpstr>Geologica Medium</vt:lpstr>
      <vt:lpstr>Geologica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Kasper</dc:creator>
  <cp:lastModifiedBy>Kasper Kalfas</cp:lastModifiedBy>
  <cp:revision>46</cp:revision>
  <dcterms:modified xsi:type="dcterms:W3CDTF">2026-09-19T14:53:08Z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ddc05-6d75-4c89-ae8a-b8ab1a1994bc_Enabled">
    <vt:lpwstr>true</vt:lpwstr>
  </property>
  <property fmtid="{D5CDD505-2E9C-101B-9397-08002B2CF9AE}" pid="3" name="MSIP_Label_6ddddc05-6d75-4c89-ae8a-b8ab1a1994bc_SetDate">
    <vt:lpwstr>2025-11-27T22:59:01Z</vt:lpwstr>
  </property>
  <property fmtid="{D5CDD505-2E9C-101B-9397-08002B2CF9AE}" pid="4" name="MSIP_Label_6ddddc05-6d75-4c89-ae8a-b8ab1a1994bc_Method">
    <vt:lpwstr>Standard</vt:lpwstr>
  </property>
  <property fmtid="{D5CDD505-2E9C-101B-9397-08002B2CF9AE}" pid="5" name="MSIP_Label_6ddddc05-6d75-4c89-ae8a-b8ab1a1994bc_Name">
    <vt:lpwstr>without watermark</vt:lpwstr>
  </property>
  <property fmtid="{D5CDD505-2E9C-101B-9397-08002B2CF9AE}" pid="6" name="MSIP_Label_6ddddc05-6d75-4c89-ae8a-b8ab1a1994bc_SiteId">
    <vt:lpwstr>ff9ac3ce-3c41-41c3-b556-e1b32a662fed</vt:lpwstr>
  </property>
  <property fmtid="{D5CDD505-2E9C-101B-9397-08002B2CF9AE}" pid="7" name="MSIP_Label_6ddddc05-6d75-4c89-ae8a-b8ab1a1994bc_ActionId">
    <vt:lpwstr>4d2ddf13-8b8b-4459-8499-d889c9d828b0</vt:lpwstr>
  </property>
  <property fmtid="{D5CDD505-2E9C-101B-9397-08002B2CF9AE}" pid="8" name="MSIP_Label_6ddddc05-6d75-4c89-ae8a-b8ab1a1994bc_ContentBits">
    <vt:lpwstr>0</vt:lpwstr>
  </property>
  <property fmtid="{D5CDD505-2E9C-101B-9397-08002B2CF9AE}" pid="9" name="MSIP_Label_6ddddc05-6d75-4c89-ae8a-b8ab1a1994bc_Tag">
    <vt:lpwstr>50, 3, 0, 1</vt:lpwstr>
  </property>
</Properties>
</file>