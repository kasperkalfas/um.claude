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Geologica SemiBold"/>
      <p:regular r:id="rId201314"/>
    </p:embeddedFont>
    <p:embeddedFont>
      <p:font typeface="Karla"/>
      <p:regular r:id="rId201315"/>
    </p:embeddedFont>
    <p:embeddedFont>
      <p:font typeface="Karl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D7C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1.png"/><Relationship Id="rId4" Type="http://schemas.openxmlformats.org/officeDocument/2006/relationships/image" Target="../media/image-29-2.svg"/><Relationship Id="rId5" Type="http://schemas.openxmlformats.org/officeDocument/2006/relationships/image" Target="../media/image-29-1.png"/><Relationship Id="rId6" Type="http://schemas.openxmlformats.org/officeDocument/2006/relationships/image" Target="../media/image-29-2.svg"/><Relationship Id="rId7" Type="http://schemas.openxmlformats.org/officeDocument/2006/relationships/image" Target="../media/image-29-1.png"/><Relationship Id="rId8" Type="http://schemas.openxmlformats.org/officeDocument/2006/relationships/image" Target="../media/image-29-2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9.png"/><Relationship Id="rId12" Type="http://schemas.openxmlformats.org/officeDocument/2006/relationships/image" Target="../media/image-29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586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— punkt widzenia na dane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234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 z zestawienia rocznego zrobić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jedno zdanie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które bank, Rada i Prezydent zapamiętają — i na którym podejmą decyzję.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040882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CD5C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30857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277122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Zestawienie ma 8 działów, 12 miesięcy i 96 liczb. Bank zapamięta jedną.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Którą?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38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3, Blok A — co robimy dziś rano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72568"/>
            <a:ext cx="894633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029222"/>
            <a:ext cx="12774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PROCES 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47233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768203"/>
            <a:ext cx="5339820" cy="25400"/>
          </a:xfrm>
          <a:prstGeom prst="rect">
            <a:avLst/>
          </a:prstGeom>
          <a:solidFill>
            <a:srgbClr val="F66A53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91345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32214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jako fundament, Claude Czat, pierwszy kontakt z Claude Code.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90301" y="247233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2768203"/>
            <a:ext cx="5339919" cy="25400"/>
          </a:xfrm>
          <a:prstGeom prst="rect">
            <a:avLst/>
          </a:prstGeom>
          <a:solidFill>
            <a:srgbClr val="F66A53"/>
          </a:solidFill>
          <a:ln/>
        </p:spPr>
      </p:sp>
      <p:sp>
        <p:nvSpPr>
          <p:cNvPr id="11" name="Text 9"/>
          <p:cNvSpPr/>
          <p:nvPr/>
        </p:nvSpPr>
        <p:spPr>
          <a:xfrm>
            <a:off x="6190301" y="291345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90301" y="3322141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Praca na komórkach, Proces 1 i 2 — z eksportu ERP do zestawienia rocznego z prognozą.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25767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553545"/>
            <a:ext cx="5339820" cy="25400"/>
          </a:xfrm>
          <a:prstGeom prst="rect">
            <a:avLst/>
          </a:prstGeom>
          <a:solidFill>
            <a:srgbClr val="F66A53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69880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3 — teraz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5107484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Proces 3: zanim otworzymy PowerPoint, ustalamy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chcemy powiedzieć. Narzędzie: DataPOV.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0301" y="425767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553545"/>
            <a:ext cx="5339919" cy="25400"/>
          </a:xfrm>
          <a:prstGeom prst="rect">
            <a:avLst/>
          </a:prstGeom>
          <a:solidFill>
            <a:srgbClr val="F66A53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301" y="469880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Blok B — za chwilę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190301" y="5107484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Tworzenie prezentacji z Claude — Wasze zdanie DataPOV jako pierwsza linijka polecenia.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0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Dwa warianty tej samej prezentacji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67595"/>
            <a:ext cx="170622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879" y="2724249"/>
            <a:ext cx="20889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WARIANT A — TYPOWY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0303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„Wykonanie budżetu za I–VIII 2026"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514626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Tabela: 8 działów × plan × wykonanie × % planu.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Odbiorca sam szuka, co z tego wynika. Najczęściej — nie znajduje.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454970"/>
            <a:ext cx="5476043" cy="2307034"/>
          </a:xfrm>
          <a:prstGeom prst="roundRect">
            <a:avLst>
              <a:gd name="adj" fmla="val 5899"/>
            </a:avLst>
          </a:prstGeom>
          <a:solidFill>
            <a:srgbClr val="F66A53"/>
          </a:solidFill>
          <a:ln/>
        </p:spPr>
      </p:sp>
      <p:sp>
        <p:nvSpPr>
          <p:cNvPr id="8" name="Shape 6"/>
          <p:cNvSpPr/>
          <p:nvPr/>
        </p:nvSpPr>
        <p:spPr>
          <a:xfrm>
            <a:off x="6385658" y="2667595"/>
            <a:ext cx="188243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9062" y="2724249"/>
            <a:ext cx="22652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WARIANT B — Z DATAPOV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85658" y="3030339"/>
            <a:ext cx="50980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„Prognoza 2026: 153,0 mln zł — harmonogram spłat bezpieczny"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09901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 same liczby — ale w roli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dowodu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nie treści. Odbiorca wie od razu, co ma zdecydować.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82" y="49746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Który wariant Pani Skarbnik wolałaby dostać od zespołu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15 minut przed spotkaniem z bankiem?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1118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liczby same się nie bronią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9680"/>
            <a:ext cx="6296860" cy="1157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6163" y="190817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22× lepiej zapamiętywana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6163" y="223797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Historia jest zapamiętywana 22 razy lepiej niż same fakty (Jennifer Aaker, Stanford).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21310"/>
            <a:ext cx="6296860" cy="11570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6163" y="319980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Mózg przechowuje narrację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6163" y="352960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tabelę — lecz ciąg przyczynowo-skutkowy: co było, co się zmieniło, co z tego wynika.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12940"/>
            <a:ext cx="6296860" cy="11570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6163" y="4491434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Wygrywa teza, nie dokładność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6163" y="482123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widzi dziesiątki zestawień miesięcznie. Zapamięta nie najdokładniejsze — lecz to, które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miało tezę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61475" y="5621338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Data storytelling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dane (dowód) + narracja (sens) + wizualizacja (szybkość zrozumienia). Brak któregokolwiek elementu = prezentacja, którą trzeba czytać dwa razy.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99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historia robi z odbiorcą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42455"/>
            <a:ext cx="450343" cy="450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07419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Upraszcza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591891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Skomplikowany przekaz dzieli na kroki, które da się prześledzić.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100" y="1542455"/>
            <a:ext cx="450343" cy="4503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3100" y="2207419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Przyciąga uwagę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3100" y="2591891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Ciekawość „co dalej" utrzymuje słuchacza do końca.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16771"/>
            <a:ext cx="450343" cy="4503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81735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Buduje zaufanie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266208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Przekonuje logiką </a:t>
            </a:r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zaangażowaniem — nie tylko tabelą.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100" y="3216771"/>
            <a:ext cx="450343" cy="4503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3100" y="3881735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Daje kontekst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3100" y="4266208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Liczba 4,5 mln zł nic nie znaczy, dopóki nie wiadomo, czy to dużo.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891088"/>
            <a:ext cx="450343" cy="4503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56052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Zostaje w pamięci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1475" y="5940524"/>
            <a:ext cx="532702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Struktura początek–środek–koniec porządkuje fakty.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03100" y="4891088"/>
            <a:ext cx="450343" cy="4503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3100" y="5556052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Prowadzi do decyzji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03100" y="5940524"/>
            <a:ext cx="532712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Dobra historia kończy się pytaniem: „więc co robimy?"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09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Elementy dobrej opowieści o budżecie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55118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6759" y="158377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14109" y="161101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Jasny cel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14109" y="2043807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Informacja, zgoda czy decyzja? Określ to zanim napiszesz pierwszy slajd.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900660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759" y="2933254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14109" y="2960489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 / wyzwanie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14109" y="3393281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jest nie tak albo co jest szansą — bez tego nie ma historii.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4250134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759" y="4282728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14109" y="4309963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Dane i fakty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14109" y="4742755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Dowody, nie ozdoby. Tabela pełna liczb idzie do załącznika.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5331817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759" y="5364411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14109" y="5391646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Wezwanie do działania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14109" y="5824438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Czego oczekujemy od odbiorcy — konkretnie i wyraźnie.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14719" y="155118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0003" y="158377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6867353" y="161101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Prostota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67353" y="2043807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Jedna myśl na slajd, reszta do załącznika (tzw. „backup").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14719" y="2632869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0003" y="2665462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6867353" y="2692698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Znajomość odbiorcy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67353" y="3125490"/>
            <a:ext cx="46692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pyta o płynność, Rada o priorytety, mieszkańcy o ulice.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14719" y="3982343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0003" y="4014936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29" name="Text 27"/>
          <p:cNvSpPr/>
          <p:nvPr/>
        </p:nvSpPr>
        <p:spPr>
          <a:xfrm>
            <a:off x="6867353" y="4042172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Wzmocnienie kluczowych punktów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67353" y="4474964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Najważniejsza liczba pojawia się więcej niż raz.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14719" y="5064026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0003" y="509661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6867353" y="5123855"/>
            <a:ext cx="46692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Klarowne zakończenie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67353" y="5556647"/>
            <a:ext cx="466921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Ostatni slajd to decyzja — nie „dziękuję za uwagę".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4873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29435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Jedno zdanie, na którym stoi cała prezentacja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408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Koncepcja Nancy Duarte, </a:t>
            </a:r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DataStory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punkt widzenia na dane sformułowany jako główny przekaz.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69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Anatomia DataPOV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23666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019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Punkt widzenia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03315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dane mówią? Jakie działanie z nich wynika?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823666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3232" y="3019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Stawka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553232" y="3503315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organizacja zyska, jeśli rekomendację przyjmie? Co straci, jeśli nie?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6237" y="2993727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Wzór: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„Aby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[efekt / stawka]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rekomendujemy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97A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[działanie]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ponieważ dane pokazują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4A864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[punkt widzenia]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."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2823666"/>
            <a:ext cx="25399" cy="94495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11" name="Text 9"/>
          <p:cNvSpPr/>
          <p:nvPr/>
        </p:nvSpPr>
        <p:spPr>
          <a:xfrm>
            <a:off x="6332776" y="398125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Wszystkie pozostałe slajdy, tabele i wykresy mają DataPOV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wspierać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Jeśli czegoś nie wspierają — idą do załącznika.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na naszym zestawieniu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570395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8127" y="937816"/>
            <a:ext cx="206667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FIKCYJNE — PLIK SZKOLENIOWY 2026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160" y="1106091"/>
            <a:ext cx="8839277" cy="5741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1901" y="1820699"/>
            <a:ext cx="2445438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Sytuacja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894952" y="2213338"/>
            <a:ext cx="2619336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Plan 157,5 mln zł; wykonanie 102,0 mln po 8 miesiącach.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72952" y="5373466"/>
            <a:ext cx="244543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Komplikacja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786003" y="5766104"/>
            <a:ext cx="2619335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Prognoza 153,0 mln zł; 6 z 8 działów poniżej planu.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64002" y="1637287"/>
            <a:ext cx="2445438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Rozwiązanie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77053" y="2029925"/>
            <a:ext cx="2619336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DataPOV: przesunięcie 0,2 mln zł w IV kw.; harmonogram bez ryzyka.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3156" y="6954044"/>
            <a:ext cx="1072706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„Aby utrzymać harmonogram spłat bez renegocjacji z bankiem, rekomendujemy przesunięcie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0,2 mln zł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do działów 750 i 851 w IV kwartale — dane pokazują, że łączne wykonanie zamknie się ok.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4,5 mln zł poniżej planu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więc rezerwa na to przesunięcie istnieje."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61475" y="6900962"/>
            <a:ext cx="12700" cy="332978"/>
          </a:xfrm>
          <a:prstGeom prst="roundRect">
            <a:avLst>
              <a:gd name="adj" fmla="val 49999"/>
            </a:avLst>
          </a:prstGeom>
          <a:solidFill>
            <a:srgbClr val="F66A53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34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Stawka: dwa scenariusze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10198"/>
            <a:ext cx="1523763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3066852"/>
            <a:ext cx="19065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BEZ PRZESUNIĘCIA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3729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Ryzyko widoczne w sprawozdaniu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57228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Dwa działy (750 Administracja, 851 Ochrona zdrowia) przekroczą plan. Odchylenie pojawi się w sprawozdaniu i wymagać będzie wyjaśnienia wobec banku i Rady.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797572"/>
            <a:ext cx="5476043" cy="2136973"/>
          </a:xfrm>
          <a:prstGeom prst="roundRect">
            <a:avLst>
              <a:gd name="adj" fmla="val 6369"/>
            </a:avLst>
          </a:prstGeom>
          <a:solidFill>
            <a:srgbClr val="0097A7"/>
          </a:solidFill>
          <a:ln/>
        </p:spPr>
      </p:sp>
      <p:sp>
        <p:nvSpPr>
          <p:cNvPr id="8" name="Shape 6"/>
          <p:cNvSpPr/>
          <p:nvPr/>
        </p:nvSpPr>
        <p:spPr>
          <a:xfrm>
            <a:off x="6385658" y="3010198"/>
            <a:ext cx="224963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9062" y="3066852"/>
            <a:ext cx="26324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 PRZESUNIĘCIEM 0,2 MLN ZŁ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85658" y="337294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Sprawozdanie czyste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57228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otrzymuje prognozę z marginesem 2,9 % poniżej planu. Harmonogram spłat niezagrożony. Rada widzi kontrolę nad budżetem.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7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Ten sam DataPOV — trzech odbiorców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5645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 same 96 liczb. Trzy różne zdania. Różnica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odbiorca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71502"/>
            <a:ext cx="3496877" cy="30300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5881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Bank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361630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„Prognoza 153,0 mln zł, 2,9 % poniżej planu — zdolność do obsługi zadłużenia niezagrożona."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płynność, ryzyko, margines.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171502"/>
            <a:ext cx="3496877" cy="30300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61766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Rada Miasta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61766" y="3361630"/>
            <a:ext cx="3068065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„Wydatki na transport i sport zamkną się ok. 1,5 mln zł poniżej planu — proponujemy decyzję: rezerwa czy zadania jednoroczne?"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priorytety, decyzja.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171502"/>
            <a:ext cx="3496877" cy="3030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7650" y="295294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Prezydent / kolegium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247650" y="3361630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„Budżet pod kontrolą; dwa działy wymagają korekty o 0,2 mln zł w IV kwartale — wniosek o zgodę."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Fokus: kontrola, zgoda.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41416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D5C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681861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650409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jest pierwsze pytanie, jakie zadaje Claude, zanim zbuduje prezentację: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Kto jest odbiorcą?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Zasada piramidy — od tezy do liczb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Struktura slajdu i całej prezentacji według metodyki McKinsey: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teza na górze, fakty na dole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Piramida w praktyce — jeden slajd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9532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to działa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97833"/>
            <a:ext cx="531551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Tytuł slajdu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DataPOV (teza)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Argumenty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: 2–3 zdania — dlaczego to prawda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Fakty i liczby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: dowód pod każdym argumentem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Tabela 8 działów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: w załączniku, nie na slajdzie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79255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957340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948708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Typowy błąd: odwrócona piramida — 20 minut liczb, a „wnioski" na ostatnim slajdzie, gdy sala już nie słucha.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Struktura opowieści — pięć kroków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35298"/>
            <a:ext cx="3108049" cy="269180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</p:sp>
      <p:sp>
        <p:nvSpPr>
          <p:cNvPr id="4" name="Text 2"/>
          <p:cNvSpPr/>
          <p:nvPr/>
        </p:nvSpPr>
        <p:spPr>
          <a:xfrm>
            <a:off x="767735" y="1488380"/>
            <a:ext cx="350511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RAPORT ROCZNY / PREZENTACJA BUDŻETOWA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1308"/>
            <a:ext cx="3622882" cy="708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675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1. Wprowadzenie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8675" y="3142754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 czym mówimy i dlaczego to ważne dla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tej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sali.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891308"/>
            <a:ext cx="3622882" cy="7088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1557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2. Kontekst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61557" y="3142754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Plan, założenia, co się zmieniło w otoczeniu.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891308"/>
            <a:ext cx="3622882" cy="7088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4439" y="2766219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3. Wyzwanie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84439" y="3142754"/>
            <a:ext cx="326848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Gdzie odchylenia, jakie ryzyko.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869234"/>
            <a:ext cx="3622882" cy="7088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8675" y="4744145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4. Zmiana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838675" y="5120680"/>
            <a:ext cx="326848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już zrobiono lub co proponujemy.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869234"/>
            <a:ext cx="3622882" cy="7088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61557" y="4744145"/>
            <a:ext cx="32684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5. Rozwiązanie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461557" y="5120680"/>
            <a:ext cx="3268482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DataPOV powtórzony + decyzja do podjęcia.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56682" y="6033988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DLACZEGO? → JAK? → CO? → PO CO? → DECYZJA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95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Mapowanie na Proces 2 / Proces 3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7755"/>
            <a:ext cx="6903269" cy="3656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7250" y="4651053"/>
            <a:ext cx="170683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Kontekst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95875" y="4925101"/>
            <a:ext cx="1828208" cy="17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Plan roczny z ERP.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49689" y="2465303"/>
            <a:ext cx="1706833" cy="21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Wyzwanie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8314" y="2739352"/>
            <a:ext cx="1828208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Odchylenia z zestawienia miesięcznego.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24713" y="2635991"/>
            <a:ext cx="1706833" cy="21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Moment zmiany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24713" y="2910039"/>
            <a:ext cx="1828208" cy="17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Korekty w IV kwartale.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69517" y="4651171"/>
            <a:ext cx="1706833" cy="21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Rozwiązanie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69517" y="4925220"/>
            <a:ext cx="1828208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Prognoza dla banku z DataPOV.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32251" y="1992709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Blok A łączy się z Blokiem B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032251" y="2772271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Każdy krok struktury opowieści ma swoje źródło danych z pracy w Dniach 1 i 2: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32251" y="3849588"/>
            <a:ext cx="3504219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Kontekst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plan roczny z ERP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Wyzwanie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odchylenia z zestawienia miesięcznego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Zmiana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korekty w IV kwartale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Rozwiązanie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= prognoza + DataPOV dla banku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Trzy narzędzia, gdy sam wykres to za mało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Analogia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Porównaj liczbę do czegoś znajomego: „4,5 mln zł poniżej planu to równowartość rocznego utrzymania ok. 3 przedszkoli."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Skala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Pokaż wielkość względem całości: „Odchylenie 2,9 % — mniej niż jedna dwunasta, czyli mniej niż jeden miesiąc wydatków."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Miejsce w czasie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Osadź w historii: „Wykonanie 64,8 % po sierpniu to najniższe tempo od 2023 r." — jeśli dane to potwierdzają.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9500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D5C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762698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73124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Liczba bez odniesienia jest tylko liczbą. Odniesienie robi z niej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argument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Claude generuje takie warianty w kilka sekund — ale to Wy wybieracie, który jest prawdziwy i stosowny.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Wykonanie budżetu I–VIII 2026 — obraz sytuacji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376923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8127" y="937816"/>
            <a:ext cx="187320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FIKCYJNE — PLIK SZKOLENIOWY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6091"/>
            <a:ext cx="10868745" cy="6086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724574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Przy równym tempie po 8 miesiącach oczekiwane wykonanie wynosi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66,7 %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Sześć z ośmiu działów jest poniżej tego progu.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45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 roczna — zestawienie działów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38374"/>
            <a:ext cx="2583691" cy="26918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F66A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7735" y="1491456"/>
            <a:ext cx="298075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 FIKCYJNE — PLIK SZKOLENIOWY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94384"/>
          <a:ext cx="9143771" cy="914400"/>
        </p:xfrm>
        <a:graphic>
          <a:graphicData uri="http://schemas.openxmlformats.org/drawingml/2006/table">
            <a:tbl>
              <a:tblPr/>
              <a:tblGrid>
                <a:gridCol w="3804061"/>
                <a:gridCol w="2173749"/>
                <a:gridCol w="2173749"/>
                <a:gridCol w="2717186"/>
              </a:tblGrid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Dział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Plan 2026 (mln zł)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Prognoza (mln zł)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Odchylenie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312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723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600 Transport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40,0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38,0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−5,0 %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926 Kultura fizyczna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14,1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−6,0 %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801 Oświata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55,0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53,0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−3,6 %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852 Pomoc społeczna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22,0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21,2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−3,6 %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750 Administracja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12,5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12,6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97A7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+0,8 %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851 Ochrona zdrowia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8,1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97A7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+1,5 %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RAZEM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157,5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153,0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66A53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−2,9 %</a:t>
                      </a:r>
                      <a:endParaRPr lang="en-US" sz="135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BF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B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603091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Tabela ta należy do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załącznika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na slajdzie głównym zostają tylko 3 liczby: 157,5 / 153,0 / −2,9 %.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9194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−2,9 %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26340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 2026 poniżej planu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356682" y="35081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mniej niż jeden miesiąc wydatków. Harmonogram spłat kredytu pozostaje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97A7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bezpieczny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157,5M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Plan 2026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Zatwierdzone wydatki roczne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63135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102M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4363135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Wykonanie I–VIII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64,8 % planu rocznego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4794" y="411767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153M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064794" y="497760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Prognoza roczna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064794" y="5386288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Rezerwa 4,5 mln zł poniżej planu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5529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Ćwiczenie — 5 minut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2154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dla Waszego odbiorcy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0028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 parach, na kartce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bez komputera.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0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Instrukcja ćwiczenia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591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18945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192405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Wybierzcie odbiorcę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332732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 / Rada Miasta / Prezydent — zdecydujcie przed napisaniem pierwszego słowa.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3915" y="18591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4805" y="18945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28163" y="192405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Napiszcie jedno zdanie DataPOV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828163" y="2332732"/>
            <a:ext cx="47020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Wzór: „Aby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[stawka]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rekomendujemy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[działanie]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ponieważ dane pokazują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[punkt widzenia]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Dane: 153,0 mln zł prognozy, −2,9 %, działy 750 i 851 minimalnie powyżej planu.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92043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365" y="39558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398532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Dodajcie argument i liczbę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4394002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Jeden argument + jedna liczba, która go dowodzi.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3915" y="392043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6350">
            <a:solidFill>
              <a:srgbClr val="E2B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4805" y="39558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28163" y="398532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Przeczytajcie na głos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828163" y="4394002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Test: czy odbiorca po jednym zdaniu wie,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co ma zdecydować?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21146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D5C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479157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5723" y="544770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 30 minut, w Bloku B, to zdanie stanie się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pierwszą linijką polecenia do Claude.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35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Szablony poleceń do Claude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512245"/>
            <a:ext cx="1630520" cy="287139"/>
          </a:xfrm>
          <a:prstGeom prst="roundRect">
            <a:avLst>
              <a:gd name="adj" fmla="val 22118"/>
            </a:avLst>
          </a:prstGeom>
          <a:solidFill>
            <a:srgbClr val="FCD5C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3568898"/>
            <a:ext cx="20132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BLOK B — ZA CHWILĘ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40120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Gotowe polecenia — wklejcie je do Claude jako punkt startowy. Każde zaczyna się od Waszego zdania DataPOV.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08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1 — DataPOV z zestawienia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202186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„Na podstawie danych z zestawienia rocznego [plan, wykonanie I–VIII, prognoza] sformułuj DataPOV dla [bank / Rada Miasta]: (1) punkt widzenia — co dane mówią o wykonaniu budżetu, (2) stawka — konsekwencje przyjęcia i nieprzyjęcia rekomendacji. Jedno zdanie, maks. 40 słów, po polsku."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89560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5346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chcesz, żeby Claude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zaproponował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sformułowanie DataPOV na podstawie liczb, które mu podasz.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20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2 — Slajd w piramidzie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353395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„Zbuduj slajd: tytuł = DataPOV, pod nim 2–3 argumenty, pod każdym jedna liczba z danych. Tabelę z pełnymi danymi umieść w załączniku, nie na slajdzie."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40770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38348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masz już DataPOV i chcesz, żeby Claude ułożył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strukturę jednego slajdu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zgodnie z zasadą piramidy.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672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3 — Prezentacja w strukturze opowieści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648670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„Ułóż 6 slajdów: wprowadzenie → kontekst → wyzwanie → moment zmiany → rozwiązanie z DataPOV → decyzja do podjęcia. Odbiorca: [bank]. Każdy slajd: jedna myśl w tytule."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36045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6787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chcesz gotowy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szkielet całej prezentacji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 strukturze pięciu kroków narracyjnych.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3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4 — Narzędzia narracyjne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566690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„Dla liczby [4,5 mln zł poniżej planu] zaproponuj 3 warianty: analogia, skala, miejsce w czasie. Oznacz, które wymagają danych, których nie podałem."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54064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59677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Użycie: gdy masz kluczową liczbę i chcesz, żeby Claude pomógł zbudować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trzy sposoby jej prezentacji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analogię, skalę i kontekst czasowy.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41424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681934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65048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Polecenia dotyczą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danych fikcyjnych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ze szkolenia. Z realnym zestawieniem Urzędu — tylko za pisemną zgodą Zamawiającego.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47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Wszystkie cztery szablony razem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83384"/>
            <a:ext cx="2575357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997795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406477"/>
            <a:ext cx="21465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DataPOV z zestawienia — jedno zdanie, maks. 40 słów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40245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2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40245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Slajd w piramidzie — teza + argumenty + tabela do załącznika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4708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3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404708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6 slajdów w strukturze opowieści — dla wybranego odbiorcy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783384"/>
            <a:ext cx="2575456" cy="1744762"/>
          </a:xfrm>
          <a:prstGeom prst="roundRect">
            <a:avLst>
              <a:gd name="adj" fmla="val 4550"/>
            </a:avLst>
          </a:prstGeom>
          <a:solidFill>
            <a:srgbClr val="FBF3ED"/>
          </a:solidFill>
          <a:ln w="25399">
            <a:solidFill>
              <a:srgbClr val="E2B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9171" y="2997795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Szablon 4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69171" y="3406477"/>
            <a:ext cx="2146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Narzędzia narracyjne — analogia, skala, miejsce w czasie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6682" y="47407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Kolejność pracy: najpierw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Wy piszecie DataPOV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(ćwiczenie), potem Claude buduje resztę (Blok B).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Czego Claude nie zastąpi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94248"/>
            <a:ext cx="6903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Claude przyspiesza formę. Wy odpowiadacie za tezę i za każdą liczbę.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7380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zna Waszego odbiorcy — Wy tak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wie, która liczba jest „prawdziwa" — Wy to weryfikujecie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nie ponosi odpowiedzialności za sprawozdanie — Pani Skarbnik tak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Claude może zaproponować analogię — tylko Wy wiecie, czy jest stosowna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751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Podział pracy: DataPOV → Wy. Forma prezentacji → Claude. Weryfikacja każdej liczby → Wy.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Zapamiętaj — sześć zasad DataPOV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075" y="2140843"/>
            <a:ext cx="5341605" cy="106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1281" y="2166243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DataPOV = punkt widzenia + stawka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01281" y="2574925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Piszemy go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otwarciem PowerPointa.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8515" y="2140843"/>
            <a:ext cx="5341705" cy="106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3721" y="2166243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Odbiorca decyduje o zdaniu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53721" y="2574925"/>
            <a:ext cx="50765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Bank, Rada i Prezydent dostają różne DataPOV z tych samych liczb.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075" y="3532386"/>
            <a:ext cx="5341605" cy="106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1281" y="3557786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Piramida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1281" y="3966468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Teza w tytule, argumenty pod nią, tabela w załączniku.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8515" y="3532386"/>
            <a:ext cx="5341705" cy="106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53721" y="3557786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Pięć kroków narracji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453721" y="3966468"/>
            <a:ext cx="50765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Wprowadzenie → kontekst → wyzwanie → zmiana → rozwiązanie i decyzja.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075" y="4923929"/>
            <a:ext cx="5341605" cy="7619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1281" y="4949329"/>
            <a:ext cx="50764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Liczba z odniesieniem = argument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01281" y="5358011"/>
            <a:ext cx="50764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Analogia, skala, czas. Bez odniesienia — tylko liczba.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8515" y="4923929"/>
            <a:ext cx="5341705" cy="76190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53721" y="4949329"/>
            <a:ext cx="5076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Claude przyspiesza formę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453721" y="5358011"/>
            <a:ext cx="507650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 odpowiadacie za tezę i za każdą liczbę.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106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Blok B zaczyna się teraz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268476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Wasze zdanie DataPOV z ćwiczenia → Claude → gotowa prezentacja.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944936" y="3412430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„Aby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[stawka]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rekomendujemy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97A7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[działanie]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ponieważ dane pokazują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4A864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[punkt widzenia]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199805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F66A53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44252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 zdanie jest pierwszą linijką polecenia — i fundamentem całej prezentacji.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2026-09-20T20:29:58Z</dcterms:created>
  <dcterms:modified xsi:type="dcterms:W3CDTF">2026-09-20T20:29:58Z</dcterms:modified>
</cp:coreProperties>
</file>