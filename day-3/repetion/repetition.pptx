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512" r:id="rId2"/>
    <p:sldId id="454" r:id="rId3"/>
    <p:sldId id="577" r:id="rId4"/>
    <p:sldId id="516" r:id="rId5"/>
    <p:sldId id="517" r:id="rId6"/>
    <p:sldId id="515" r:id="rId7"/>
    <p:sldId id="582" r:id="rId8"/>
    <p:sldId id="344" r:id="rId9"/>
    <p:sldId id="359" r:id="rId10"/>
    <p:sldId id="519" r:id="rId11"/>
    <p:sldId id="384" r:id="rId12"/>
    <p:sldId id="346" r:id="rId13"/>
    <p:sldId id="259" r:id="rId14"/>
    <p:sldId id="260" r:id="rId15"/>
    <p:sldId id="261" r:id="rId16"/>
    <p:sldId id="583" r:id="rId17"/>
    <p:sldId id="269" r:id="rId18"/>
    <p:sldId id="590" r:id="rId19"/>
    <p:sldId id="585" r:id="rId20"/>
    <p:sldId id="592" r:id="rId21"/>
    <p:sldId id="594" r:id="rId22"/>
    <p:sldId id="601" r:id="rId23"/>
    <p:sldId id="602" r:id="rId24"/>
    <p:sldId id="603" r:id="rId25"/>
    <p:sldId id="604" r:id="rId26"/>
    <p:sldId id="605" r:id="rId27"/>
    <p:sldId id="586" r:id="rId28"/>
    <p:sldId id="608" r:id="rId29"/>
    <p:sldId id="615" r:id="rId30"/>
    <p:sldId id="619" r:id="rId31"/>
    <p:sldId id="620" r:id="rId32"/>
    <p:sldId id="621" r:id="rId33"/>
    <p:sldId id="622" r:id="rId34"/>
    <p:sldId id="623" r:id="rId3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Geologica" pitchFamily="2" charset="0"/>
      <p:regular r:id="rId41"/>
      <p:bold r:id="rId42"/>
    </p:embeddedFont>
    <p:embeddedFont>
      <p:font typeface="Geologica Light" pitchFamily="2" charset="0"/>
      <p:regular r:id="rId43"/>
      <p:bold r:id="rId44"/>
    </p:embeddedFont>
    <p:embeddedFont>
      <p:font typeface="Geologica Medium" pitchFamily="2" charset="0"/>
      <p:regular r:id="rId45"/>
      <p:bold r:id="rId46"/>
    </p:embeddedFont>
    <p:embeddedFont>
      <p:font typeface="Geologica Semi Bold" panose="020B0604020202020204" charset="0"/>
      <p:regular r:id="rId47"/>
      <p:bold r:id="rId48"/>
      <p:italic r:id="rId49"/>
      <p:boldItalic r:id="rId50"/>
    </p:embeddedFont>
    <p:embeddedFont>
      <p:font typeface="Geologica SemiBold" pitchFamily="2" charset="0"/>
      <p:bold r:id="rId51"/>
    </p:embeddedFont>
    <p:embeddedFont>
      <p:font typeface="Karla" panose="020B0004030503030003" pitchFamily="34" charset="0"/>
      <p:regular r:id="rId52"/>
      <p:bold r:id="rId53"/>
      <p:italic r:id="rId54"/>
      <p:boldItalic r:id="rId55"/>
    </p:embeddedFont>
    <p:embeddedFont>
      <p:font typeface="Karla Bold" panose="020B0004030503030003" pitchFamily="34" charset="0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080">
          <p15:clr>
            <a:srgbClr val="747775"/>
          </p15:clr>
        </p15:guide>
        <p15:guide id="2" pos="5533">
          <p15:clr>
            <a:srgbClr val="747775"/>
          </p15:clr>
        </p15:guide>
        <p15:guide id="3" orient="horz" pos="170">
          <p15:clr>
            <a:srgbClr val="747775"/>
          </p15:clr>
        </p15:guide>
        <p15:guide id="4" orient="horz" pos="3070">
          <p15:clr>
            <a:srgbClr val="747775"/>
          </p15:clr>
        </p15:guide>
        <p15:guide id="5" pos="227">
          <p15:clr>
            <a:srgbClr val="747775"/>
          </p15:clr>
        </p15:guide>
        <p15:guide id="6" pos="2880">
          <p15:clr>
            <a:srgbClr val="747775"/>
          </p15:clr>
        </p15:guide>
        <p15:guide id="7" pos="680">
          <p15:clr>
            <a:srgbClr val="747775"/>
          </p15:clr>
        </p15:guide>
        <p15:guide id="8" pos="2653">
          <p15:clr>
            <a:srgbClr val="747775"/>
          </p15:clr>
        </p15:guide>
        <p15:guide id="9" orient="horz" pos="965">
          <p15:clr>
            <a:srgbClr val="747775"/>
          </p15:clr>
        </p15:guide>
        <p15:guide id="10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5"/>
    <p:restoredTop sz="94658"/>
  </p:normalViewPr>
  <p:slideViewPr>
    <p:cSldViewPr snapToGrid="0">
      <p:cViewPr varScale="1">
        <p:scale>
          <a:sx n="120" d="100"/>
          <a:sy n="120" d="100"/>
        </p:scale>
        <p:origin x="900" y="76"/>
      </p:cViewPr>
      <p:guideLst>
        <p:guide pos="5080"/>
        <p:guide pos="5533"/>
        <p:guide orient="horz" pos="170"/>
        <p:guide orient="horz" pos="3070"/>
        <p:guide pos="227"/>
        <p:guide pos="2880"/>
        <p:guide pos="680"/>
        <p:guide pos="2653"/>
        <p:guide orient="horz" pos="965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666C-EAF0-7BD0-57AA-3564557F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A2111-347C-FEBB-DFDF-86D023910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E9259-039F-1EB5-55E8-5E355DA72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6C0D9-EE86-14E7-6599-CA1D4861B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61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CDD1-1229-3621-67F1-EEB3083FF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3B427-C58C-1916-48D5-7881E0CE7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C918B-6E54-BEF1-FCE2-97AD78449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D2FE-2B4C-B292-E80D-F9208BA3F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69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80FE-BC55-1E87-8B05-D260FE11F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94A0C-2EB0-D244-9749-B8A56751C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9D010-5131-80AE-737B-387137926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CD55C-04EF-6F54-5D5D-5B3A9CE51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72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78498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CD3C42-3D02-C590-3A7D-D4FFE6F5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7EC483-03BB-761C-D21D-69FF4BA9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1B91D15-965F-9226-4E84-B961F57E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33576-D00D-4CF1-841E-9D085B8CC14A}" type="datetimeFigureOut">
              <a:rPr lang="pl-PL" smtClean="0"/>
              <a:t>24.09.2026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61FCBD-4769-4CBF-6A25-4E53D777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9DAAA9-E562-0144-4F0C-6C80BF4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D71-6E2F-4AB3-B3DD-360C297AD6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42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918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722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689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348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BF3E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logica"/>
              <a:buNone/>
              <a:defRPr sz="2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ologica Light"/>
              <a:buChar char="●"/>
              <a:defRPr sz="1800"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6" r:id="rId3"/>
    <p:sldLayoutId id="2147483657" r:id="rId4"/>
    <p:sldLayoutId id="2147483681" r:id="rId5"/>
    <p:sldLayoutId id="2147483682" r:id="rId6"/>
    <p:sldLayoutId id="2147483684" r:id="rId7"/>
    <p:sldLayoutId id="2147483687" r:id="rId8"/>
    <p:sldLayoutId id="214748368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4EEB99-FF30-C6B1-C657-772207B2B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0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90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 sz="875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3" y="106263"/>
            <a:ext cx="3287316" cy="4930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88069"/>
            <a:ext cx="5289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Czym jest model LLM?</a:t>
            </a:r>
            <a:endParaRPr lang="en-US" sz="2781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916112"/>
            <a:ext cx="472276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Duże Modele Językowe (LLM) to systemy AI trenowane na ogromnych zbiorach tekstu i kodu, wykorzystujące architekturę Transformer. </a:t>
            </a:r>
            <a:r>
              <a:rPr lang="en-US" sz="1200" dirty="0" err="1">
                <a:latin typeface="Karla" pitchFamily="34" charset="0"/>
                <a:ea typeface="Karla" pitchFamily="34" charset="-122"/>
                <a:cs typeface="Karla" pitchFamily="34" charset="-120"/>
              </a:rPr>
              <a:t>Zdolne</a:t>
            </a: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 do rozumienia, generowania i rozumowania w języku </a:t>
            </a:r>
            <a:r>
              <a:rPr lang="en-US" sz="1200" dirty="0" err="1">
                <a:latin typeface="Karla" pitchFamily="34" charset="0"/>
                <a:ea typeface="Karla" pitchFamily="34" charset="-122"/>
                <a:cs typeface="Karla" pitchFamily="34" charset="-120"/>
              </a:rPr>
              <a:t>naturalnym</a:t>
            </a: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r>
              <a:rPr lang="pl-PL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r>
              <a:rPr lang="pl-PL" sz="1800" b="1" dirty="0">
                <a:latin typeface="Karla" pitchFamily="34" charset="0"/>
                <a:ea typeface="Karla" pitchFamily="34" charset="-122"/>
                <a:cs typeface="Karla" pitchFamily="34" charset="-120"/>
              </a:rPr>
              <a:t>GEN AI</a:t>
            </a:r>
            <a:endParaRPr lang="en-US" sz="1200" b="1" dirty="0"/>
          </a:p>
        </p:txBody>
      </p:sp>
      <p:sp>
        <p:nvSpPr>
          <p:cNvPr id="6" name="Shape 3"/>
          <p:cNvSpPr/>
          <p:nvPr/>
        </p:nvSpPr>
        <p:spPr>
          <a:xfrm>
            <a:off x="496119" y="1968624"/>
            <a:ext cx="2290465" cy="1506811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7" name="Text 4"/>
          <p:cNvSpPr/>
          <p:nvPr/>
        </p:nvSpPr>
        <p:spPr>
          <a:xfrm>
            <a:off x="642640" y="2115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GPT-4 (OpenAI)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2640" y="2421657"/>
            <a:ext cx="19974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latin typeface="Karla" pitchFamily="34" charset="0"/>
                <a:ea typeface="Karla" pitchFamily="34" charset="-122"/>
                <a:cs typeface="Karla" pitchFamily="34" charset="-120"/>
              </a:rPr>
              <a:t>Jeden z najpotężniejszych modeli komercyjnych, napędza ChatGPT i wiele produktów AI</a:t>
            </a:r>
            <a:endParaRPr lang="en-US" sz="1094" dirty="0"/>
          </a:p>
        </p:txBody>
      </p:sp>
      <p:sp>
        <p:nvSpPr>
          <p:cNvPr id="9" name="Shape 6"/>
          <p:cNvSpPr/>
          <p:nvPr/>
        </p:nvSpPr>
        <p:spPr>
          <a:xfrm>
            <a:off x="2928343" y="1968624"/>
            <a:ext cx="2290539" cy="1506811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0" name="Text 7"/>
          <p:cNvSpPr/>
          <p:nvPr/>
        </p:nvSpPr>
        <p:spPr>
          <a:xfrm>
            <a:off x="3074864" y="2115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Mistral AI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74864" y="2421657"/>
            <a:ext cx="1997497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latin typeface="Karla" pitchFamily="34" charset="0"/>
                <a:ea typeface="Karla" pitchFamily="34" charset="-122"/>
                <a:cs typeface="Karla" pitchFamily="34" charset="-120"/>
              </a:rPr>
              <a:t>Europejski challenger — wydajne modele open-source o konkurencyjnej jakości</a:t>
            </a:r>
            <a:endParaRPr lang="en-US" sz="1094" dirty="0"/>
          </a:p>
        </p:txBody>
      </p:sp>
      <p:sp>
        <p:nvSpPr>
          <p:cNvPr id="12" name="Shape 9"/>
          <p:cNvSpPr/>
          <p:nvPr/>
        </p:nvSpPr>
        <p:spPr>
          <a:xfrm>
            <a:off x="496119" y="3617193"/>
            <a:ext cx="4722763" cy="1053183"/>
          </a:xfrm>
          <a:prstGeom prst="roundRect">
            <a:avLst>
              <a:gd name="adj" fmla="val 5654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3" name="Text 10"/>
          <p:cNvSpPr/>
          <p:nvPr/>
        </p:nvSpPr>
        <p:spPr>
          <a:xfrm>
            <a:off x="642640" y="37637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Bielik.AI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2640" y="4070227"/>
            <a:ext cx="44297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latin typeface="Karla" pitchFamily="34" charset="0"/>
                <a:ea typeface="Karla" pitchFamily="34" charset="-122"/>
                <a:cs typeface="Karla" pitchFamily="34" charset="-120"/>
              </a:rPr>
              <a:t>Polski model językowy — zoptymalizowany pod kątem języka polskiego i lokalnych zastosowań</a:t>
            </a:r>
            <a:endParaRPr lang="en-US" sz="109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96119" y="388069"/>
            <a:ext cx="5289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Czym jest Anthropic i Claude?</a:t>
            </a:r>
            <a:endParaRPr lang="en-US" sz="2781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916112"/>
            <a:ext cx="472276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pl-PL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Anthropic to firma założona w 2021 roku, tworząca modele AI z naciskiem na bezpieczeństwo. </a:t>
            </a:r>
            <a:b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</a:br>
            <a:b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</a:br>
            <a:r>
              <a:rPr lang="pl-PL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Jej rodzina modeli językowych to </a:t>
            </a:r>
            <a:r>
              <a:rPr lang="pl-PL" sz="1800" b="1" dirty="0">
                <a:latin typeface="Karla" pitchFamily="34" charset="0"/>
                <a:ea typeface="Karla" pitchFamily="34" charset="-122"/>
                <a:cs typeface="Karla" pitchFamily="34" charset="-120"/>
              </a:rPr>
              <a:t>CLAUDE</a:t>
            </a:r>
            <a:endParaRPr lang="en-US" sz="1200" b="1" dirty="0"/>
          </a:p>
        </p:txBody>
      </p:sp>
      <p:sp>
        <p:nvSpPr>
          <p:cNvPr id="6" name="Shape 3"/>
          <p:cNvSpPr/>
          <p:nvPr/>
        </p:nvSpPr>
        <p:spPr>
          <a:xfrm>
            <a:off x="496119" y="2474810"/>
            <a:ext cx="2290465" cy="1506811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7" name="Text 4"/>
          <p:cNvSpPr/>
          <p:nvPr/>
        </p:nvSpPr>
        <p:spPr>
          <a:xfrm>
            <a:off x="642640" y="26213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pl-PL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Claude Haiku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2640" y="2927843"/>
            <a:ext cx="19974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pl-PL" sz="1094" dirty="0">
                <a:latin typeface="Karla" pitchFamily="34" charset="0"/>
                <a:ea typeface="Karla" pitchFamily="34" charset="-122"/>
                <a:cs typeface="Karla" pitchFamily="34" charset="-120"/>
              </a:rPr>
              <a:t>Najszybszy i najtańszy — do krótkich, prostych zadań na dużą skalę</a:t>
            </a:r>
            <a:endParaRPr lang="en-US" sz="1094" dirty="0"/>
          </a:p>
        </p:txBody>
      </p:sp>
      <p:sp>
        <p:nvSpPr>
          <p:cNvPr id="9" name="Shape 6"/>
          <p:cNvSpPr/>
          <p:nvPr/>
        </p:nvSpPr>
        <p:spPr>
          <a:xfrm>
            <a:off x="3082083" y="2474809"/>
            <a:ext cx="2290539" cy="1506811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0" name="Text 7"/>
          <p:cNvSpPr/>
          <p:nvPr/>
        </p:nvSpPr>
        <p:spPr>
          <a:xfrm>
            <a:off x="3228604" y="26213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pl-PL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Claude Sonnet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28604" y="2927842"/>
            <a:ext cx="1997497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pl-PL" sz="1094" dirty="0">
                <a:latin typeface="Karla" pitchFamily="34" charset="0"/>
                <a:ea typeface="Karla" pitchFamily="34" charset="-122"/>
                <a:cs typeface="Karla" pitchFamily="34" charset="-120"/>
              </a:rPr>
              <a:t>Model uniwersalny — do codziennej pracy: pisania, analizy i podsumowań</a:t>
            </a:r>
            <a:endParaRPr lang="en-US" sz="1094" dirty="0"/>
          </a:p>
        </p:txBody>
      </p:sp>
      <p:sp>
        <p:nvSpPr>
          <p:cNvPr id="12" name="Shape 9"/>
          <p:cNvSpPr/>
          <p:nvPr/>
        </p:nvSpPr>
        <p:spPr>
          <a:xfrm>
            <a:off x="5519143" y="2474809"/>
            <a:ext cx="3396693" cy="1506811"/>
          </a:xfrm>
          <a:prstGeom prst="roundRect">
            <a:avLst>
              <a:gd name="adj" fmla="val 5654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3" name="Text 10"/>
          <p:cNvSpPr/>
          <p:nvPr/>
        </p:nvSpPr>
        <p:spPr>
          <a:xfrm>
            <a:off x="5633740" y="25650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pl-PL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Claude Opus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33740" y="2952394"/>
            <a:ext cx="3232676" cy="96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pl-PL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Najbardziej zaawansowany model — złożone analizy, długie dokumenty i zadania wymagające głębokiego rozumowania.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9522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5753-8FA2-1EE9-01E4-149DEF64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>
            <a:extLst>
              <a:ext uri="{FF2B5EF4-FFF2-40B4-BE49-F238E27FC236}">
                <a16:creationId xmlns:a16="http://schemas.microsoft.com/office/drawing/2014/main" id="{8A8F1408-C580-F0A2-71A7-C2793DCE218A}"/>
              </a:ext>
            </a:extLst>
          </p:cNvPr>
          <p:cNvSpPr/>
          <p:nvPr/>
        </p:nvSpPr>
        <p:spPr>
          <a:xfrm>
            <a:off x="496119" y="83142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 err="1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Modele</a:t>
            </a: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AI</a:t>
            </a:r>
            <a:endParaRPr lang="en-US" sz="2400" dirty="0"/>
          </a:p>
        </p:txBody>
      </p:sp>
      <p:pic>
        <p:nvPicPr>
          <p:cNvPr id="2" name="Picture 1" descr="Informatyka na dziś - Ranking IQ AI">
            <a:extLst>
              <a:ext uri="{FF2B5EF4-FFF2-40B4-BE49-F238E27FC236}">
                <a16:creationId xmlns:a16="http://schemas.microsoft.com/office/drawing/2014/main" id="{49A3BC69-2152-AF5B-0DCD-0714CE019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210" y="1376916"/>
            <a:ext cx="6305774" cy="33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9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0A5D1-CA5C-C6F9-FFB6-35CC1B7D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4AD110F-4654-3E4F-C807-DD8ED590DB78}"/>
              </a:ext>
            </a:extLst>
          </p:cNvPr>
          <p:cNvSpPr txBox="1"/>
          <p:nvPr/>
        </p:nvSpPr>
        <p:spPr>
          <a:xfrm>
            <a:off x="1097280" y="2045170"/>
            <a:ext cx="69494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l-PL" sz="6000" b="1" i="0" dirty="0">
                <a:solidFill>
                  <a:srgbClr val="F66953"/>
                </a:solidFill>
                <a:latin typeface="Geologica Medium"/>
              </a:rPr>
              <a:t>Systemy AI</a:t>
            </a:r>
            <a:endParaRPr sz="6000" b="1" i="0" dirty="0">
              <a:solidFill>
                <a:srgbClr val="F66953"/>
              </a:solidFill>
              <a:latin typeface="Geologica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54324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142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l-PL" sz="2400" dirty="0" err="1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Tooling</a:t>
            </a: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AI 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3816" y="1573325"/>
            <a:ext cx="434132" cy="434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3816" y="2162461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Wyszukiwanie z AI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7162" y="1573325"/>
            <a:ext cx="434132" cy="4341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67162" y="2162461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Generowanie obrazów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3816" y="2604332"/>
            <a:ext cx="434132" cy="4341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13816" y="3193468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Generowanie mowy/głosu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7162" y="2604332"/>
            <a:ext cx="434132" cy="4341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67162" y="3193468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Prezentacje/dokumenty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3816" y="3635339"/>
            <a:ext cx="434132" cy="4341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13816" y="4224475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Pomoc w kodowaniu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7162" y="3635339"/>
            <a:ext cx="434132" cy="4341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367162" y="4224475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Automatyzacja bez kodu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96119" y="388069"/>
            <a:ext cx="5289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Czym są skille i connectory?</a:t>
            </a:r>
            <a:endParaRPr lang="en-US" sz="2781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916112"/>
            <a:ext cx="472276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pl-PL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To dwa sposoby, w jakie Claude można rozszerzyć o dodatkowe możliwości: </a:t>
            </a:r>
            <a:r>
              <a:rPr lang="pl-PL" sz="1800" b="1" dirty="0">
                <a:latin typeface="Karla" pitchFamily="34" charset="0"/>
                <a:ea typeface="Karla" pitchFamily="34" charset="-122"/>
                <a:cs typeface="Karla" pitchFamily="34" charset="-120"/>
              </a:rPr>
              <a:t>SKILLE I CONNECTORY</a:t>
            </a:r>
            <a:endParaRPr lang="en-US" sz="1200" b="1" dirty="0"/>
          </a:p>
        </p:txBody>
      </p:sp>
      <p:sp>
        <p:nvSpPr>
          <p:cNvPr id="6" name="Shape 3"/>
          <p:cNvSpPr/>
          <p:nvPr/>
        </p:nvSpPr>
        <p:spPr>
          <a:xfrm>
            <a:off x="495300" y="1905000"/>
            <a:ext cx="3924300" cy="2413000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7" name="Text 4"/>
          <p:cNvSpPr/>
          <p:nvPr/>
        </p:nvSpPr>
        <p:spPr>
          <a:xfrm>
            <a:off x="1270000" y="2184400"/>
            <a:ext cx="2997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pl-PL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Skill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3900" y="2692400"/>
            <a:ext cx="3543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pl-PL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Zestaw instrukcji, który uczy Claude nowej umiejętności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24400" y="1905000"/>
            <a:ext cx="3924300" cy="2413000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0" name="Text 7"/>
          <p:cNvSpPr/>
          <p:nvPr/>
        </p:nvSpPr>
        <p:spPr>
          <a:xfrm>
            <a:off x="5499100" y="2184400"/>
            <a:ext cx="2997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pl-PL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Connector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53000" y="2692400"/>
            <a:ext cx="3543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pl-PL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Połączenie z zewnętrzną aplikacją, które daje Claude dostęp do jej danych</a:t>
            </a:r>
            <a:endParaRPr lang="en-US" sz="1200" dirty="0"/>
          </a:p>
        </p:txBody>
      </p:sp>
      <p:pic>
        <p:nvPicPr>
          <p:cNvPr id="12" name="Graphic 12" descr="Skil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" y="2159000"/>
            <a:ext cx="406400" cy="406400"/>
          </a:xfrm>
          <a:prstGeom prst="rect">
            <a:avLst/>
          </a:prstGeom>
        </p:spPr>
      </p:pic>
      <p:pic>
        <p:nvPicPr>
          <p:cNvPr id="13" name="Graphic 13" descr="Connecto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2159000"/>
            <a:ext cx="406400" cy="406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098740-BBD6-4FA6-93B6-6EA9F661906F}"/>
              </a:ext>
            </a:extLst>
          </p:cNvPr>
          <p:cNvSpPr txBox="1"/>
          <p:nvPr/>
        </p:nvSpPr>
        <p:spPr>
          <a:xfrm>
            <a:off x="723900" y="3632200"/>
            <a:ext cx="35433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100" i="1">
                <a:solidFill>
                  <a:srgbClr val="595959"/>
                </a:solidFill>
                <a:latin typeface="Karla"/>
              </a:rPr>
              <a:t>Przykład: wyszukiwanie nowych paragrafów w dokumentach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9279D-8D19-4BFA-B772-0BE487CD20B3}"/>
              </a:ext>
            </a:extLst>
          </p:cNvPr>
          <p:cNvSpPr txBox="1"/>
          <p:nvPr/>
        </p:nvSpPr>
        <p:spPr>
          <a:xfrm>
            <a:off x="4953000" y="3632200"/>
            <a:ext cx="35433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100" i="1">
                <a:solidFill>
                  <a:srgbClr val="595959"/>
                </a:solidFill>
                <a:latin typeface="Karla"/>
              </a:rPr>
              <a:t>Przykład: connector do Google Calendar</a:t>
            </a:r>
          </a:p>
        </p:txBody>
      </p:sp>
    </p:spTree>
    <p:extLst>
      <p:ext uri="{BB962C8B-B14F-4D97-AF65-F5344CB8AC3E}">
        <p14:creationId xmlns:p14="http://schemas.microsoft.com/office/powerpoint/2010/main" val="1893099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A84E-1DB6-D44E-86E9-D78CDD70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4ABB-B1B7-8410-6C29-B1C9A4FC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Bazy</a:t>
            </a:r>
            <a:r>
              <a:rPr lang="en-US" dirty="0"/>
              <a:t> </a:t>
            </a:r>
            <a:r>
              <a:rPr lang="en-US" dirty="0" err="1"/>
              <a:t>wiedzy</a:t>
            </a:r>
            <a:endParaRPr lang="pl-P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B68EA-C014-DAA4-1DA2-DD326438163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225"/>
            <a:ext cx="4823517" cy="3264408"/>
          </a:xfrm>
        </p:spPr>
        <p:txBody>
          <a:bodyPr anchor="t">
            <a:normAutofit/>
          </a:bodyPr>
          <a:lstStyle/>
          <a:p>
            <a:pPr marL="11430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</a:rPr>
              <a:t>Model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nie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zmienia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swoich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wag.</a:t>
            </a:r>
          </a:p>
          <a:p>
            <a:pPr marL="11430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Zamiast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tego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podczas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działania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dociąga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zewnętrzne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dane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(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dokumenty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bazę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wiedzy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pliki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firmowe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)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na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ich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podstawie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generuje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odpowiedź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38B7C-5686-C660-D89C-361379DD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17" y="445025"/>
            <a:ext cx="3692071" cy="386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8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C00E7-F3EB-481C-D1F1-F7719F77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ABF6-61C3-A626-F816-9CEDE18F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AGENT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60FEE-9357-53FD-F95A-399E6AA9DB0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71955" y="1017725"/>
            <a:ext cx="3094440" cy="3725588"/>
          </a:xfrm>
        </p:spPr>
        <p:txBody>
          <a:bodyPr anchor="t">
            <a:normAutofit fontScale="77500" lnSpcReduction="20000"/>
          </a:bodyPr>
          <a:lstStyle/>
          <a:p>
            <a:pPr marL="114300" indent="0">
              <a:buNone/>
            </a:pPr>
            <a:r>
              <a:rPr lang="en-GB" sz="1600" b="1" dirty="0">
                <a:solidFill>
                  <a:schemeClr val="tx1"/>
                </a:solidFill>
              </a:rPr>
              <a:t>Agent: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Wykonuje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zadania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osiąga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cele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  <a:r>
              <a:rPr lang="pl-PL" sz="1600" dirty="0">
                <a:solidFill>
                  <a:schemeClr val="tx1"/>
                </a:solidFill>
              </a:rPr>
              <a:t> Dzięki Tools, czyli narzędziom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b="1" dirty="0" err="1">
                <a:solidFill>
                  <a:schemeClr val="tx1"/>
                </a:solidFill>
              </a:rPr>
              <a:t>Przykłady</a:t>
            </a:r>
            <a:r>
              <a:rPr lang="en-GB" b="1" dirty="0">
                <a:solidFill>
                  <a:schemeClr val="tx1"/>
                </a:solidFill>
              </a:rPr>
              <a:t>:</a:t>
            </a:r>
          </a:p>
          <a:p>
            <a:pPr marL="114300" indent="0"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Agent </a:t>
            </a:r>
            <a:r>
              <a:rPr lang="en-GB" sz="1600" b="1" dirty="0" err="1">
                <a:solidFill>
                  <a:schemeClr val="tx1"/>
                </a:solidFill>
              </a:rPr>
              <a:t>rezerwacyjny</a:t>
            </a:r>
            <a:r>
              <a:rPr lang="en-GB" sz="1600" dirty="0">
                <a:solidFill>
                  <a:schemeClr val="tx1"/>
                </a:solidFill>
              </a:rPr>
              <a:t> - </a:t>
            </a:r>
            <a:r>
              <a:rPr lang="en-GB" sz="1600" dirty="0" err="1">
                <a:solidFill>
                  <a:schemeClr val="tx1"/>
                </a:solidFill>
              </a:rPr>
              <a:t>sam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szuka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lotów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porównuje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ceny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rezerwuje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bilet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Agent </a:t>
            </a:r>
            <a:r>
              <a:rPr lang="en-GB" sz="1600" b="1" dirty="0" err="1">
                <a:solidFill>
                  <a:schemeClr val="tx1"/>
                </a:solidFill>
              </a:rPr>
              <a:t>analityczny</a:t>
            </a:r>
            <a:r>
              <a:rPr lang="en-GB" sz="1600" dirty="0">
                <a:solidFill>
                  <a:schemeClr val="tx1"/>
                </a:solidFill>
              </a:rPr>
              <a:t> - </a:t>
            </a:r>
            <a:r>
              <a:rPr lang="en-GB" sz="1600" dirty="0" err="1">
                <a:solidFill>
                  <a:schemeClr val="tx1"/>
                </a:solidFill>
              </a:rPr>
              <a:t>pobiera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dane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analizuje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tworzy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raport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Agent </a:t>
            </a:r>
            <a:r>
              <a:rPr lang="en-GB" sz="1600" b="1" dirty="0" err="1">
                <a:solidFill>
                  <a:schemeClr val="tx1"/>
                </a:solidFill>
              </a:rPr>
              <a:t>kodujący</a:t>
            </a:r>
            <a:r>
              <a:rPr lang="en-GB" sz="1600" dirty="0">
                <a:solidFill>
                  <a:schemeClr val="tx1"/>
                </a:solidFill>
              </a:rPr>
              <a:t> - </a:t>
            </a:r>
            <a:r>
              <a:rPr lang="en-GB" sz="1600" dirty="0" err="1">
                <a:solidFill>
                  <a:schemeClr val="tx1"/>
                </a:solidFill>
              </a:rPr>
              <a:t>pisze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kod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testuje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poprawia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błędy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Agent </a:t>
            </a:r>
            <a:r>
              <a:rPr lang="en-GB" sz="1600" b="1" dirty="0" err="1">
                <a:solidFill>
                  <a:schemeClr val="tx1"/>
                </a:solidFill>
              </a:rPr>
              <a:t>osobisty</a:t>
            </a:r>
            <a:r>
              <a:rPr lang="en-GB" sz="1600" dirty="0">
                <a:solidFill>
                  <a:schemeClr val="tx1"/>
                </a:solidFill>
              </a:rPr>
              <a:t> - </a:t>
            </a:r>
            <a:r>
              <a:rPr lang="en-GB" sz="1600" dirty="0" err="1">
                <a:solidFill>
                  <a:schemeClr val="tx1"/>
                </a:solidFill>
              </a:rPr>
              <a:t>zarządza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kalendarzem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mailami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przypomnieniami</a:t>
            </a:r>
            <a:endParaRPr lang="en-GB" sz="1600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CA873-200C-F850-F1D7-517DED42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807" y="1752744"/>
            <a:ext cx="5110238" cy="216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8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BF8F8-48E4-CDE5-9424-6B056C21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Gemini AI pomoże zreformować Siri • Wszystko co najważniejsze">
            <a:extLst>
              <a:ext uri="{FF2B5EF4-FFF2-40B4-BE49-F238E27FC236}">
                <a16:creationId xmlns:a16="http://schemas.microsoft.com/office/drawing/2014/main" id="{9680A66A-A927-791C-85E9-ADBF53ED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8310" y="-779508"/>
            <a:ext cx="6427379" cy="3609420"/>
          </a:xfrm>
          <a:prstGeom prst="rect">
            <a:avLst/>
          </a:prstGeom>
        </p:spPr>
      </p:pic>
      <p:pic>
        <p:nvPicPr>
          <p:cNvPr id="16" name="Picture 15" descr="ChatGPT – Wikipedia, wolna encyklopedia">
            <a:extLst>
              <a:ext uri="{FF2B5EF4-FFF2-40B4-BE49-F238E27FC236}">
                <a16:creationId xmlns:a16="http://schemas.microsoft.com/office/drawing/2014/main" id="{A32437E9-9FD4-8045-D22F-F17750148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60787" y="1842090"/>
            <a:ext cx="1807536" cy="1807536"/>
          </a:xfrm>
          <a:prstGeom prst="rect">
            <a:avLst/>
          </a:prstGeom>
        </p:spPr>
      </p:pic>
      <p:pic>
        <p:nvPicPr>
          <p:cNvPr id="17" name="Picture 16" descr="Claude Darmowe pobrania SVG, PNG i w... · LobeHub">
            <a:extLst>
              <a:ext uri="{FF2B5EF4-FFF2-40B4-BE49-F238E27FC236}">
                <a16:creationId xmlns:a16="http://schemas.microsoft.com/office/drawing/2014/main" id="{A48032EF-90F9-1BB7-6939-158AC0367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675" y="2090732"/>
            <a:ext cx="1863831" cy="1863831"/>
          </a:xfrm>
          <a:prstGeom prst="rect">
            <a:avLst/>
          </a:prstGeom>
        </p:spPr>
      </p:pic>
      <p:pic>
        <p:nvPicPr>
          <p:cNvPr id="18" name="Picture 17" descr="Perplexity Model Logo - Download on Writingmate">
            <a:extLst>
              <a:ext uri="{FF2B5EF4-FFF2-40B4-BE49-F238E27FC236}">
                <a16:creationId xmlns:a16="http://schemas.microsoft.com/office/drawing/2014/main" id="{75E61B95-F29F-CE4E-BFF2-5A4ACCA8D6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422" y="2913322"/>
            <a:ext cx="1609154" cy="1609154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C6C7AF0F-572B-A3DA-5CAC-759EC8D0A64D}"/>
              </a:ext>
            </a:extLst>
          </p:cNvPr>
          <p:cNvSpPr/>
          <p:nvPr/>
        </p:nvSpPr>
        <p:spPr>
          <a:xfrm>
            <a:off x="496119" y="83142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l-PL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Systemy AI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525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E213-745D-1906-0E20-88613D46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1975-9B92-8A21-C0A0-8FB3D247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HALUCYNACJA MODELU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D2DA1-F34C-24FB-0B43-23A0FF9FA4C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37890"/>
            <a:ext cx="4069800" cy="3264408"/>
          </a:xfrm>
        </p:spPr>
        <p:txBody>
          <a:bodyPr anchor="t">
            <a:normAutofit/>
          </a:bodyPr>
          <a:lstStyle/>
          <a:p>
            <a:pPr marL="11430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 err="1">
                <a:solidFill>
                  <a:schemeClr val="dk1"/>
                </a:solidFill>
              </a:rPr>
              <a:t>Halucynacje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w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modelach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LLM to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zjawisko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w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którym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model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generuje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informacje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które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brzmią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wiarygodnie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ale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są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faktycznie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nieprawdziwe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4" name="Picture 2" descr="Czym są halucynacje AI? - beAIware.pl">
            <a:extLst>
              <a:ext uri="{FF2B5EF4-FFF2-40B4-BE49-F238E27FC236}">
                <a16:creationId xmlns:a16="http://schemas.microsoft.com/office/drawing/2014/main" id="{84BB0C1D-4E36-3404-1281-D31DA2474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" r="15838" b="-2"/>
          <a:stretch>
            <a:fillRect/>
          </a:stretch>
        </p:blipFill>
        <p:spPr bwMode="auto">
          <a:xfrm>
            <a:off x="4652035" y="1237890"/>
            <a:ext cx="4069800" cy="326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73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8B338-22B8-5036-595F-130D978D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FDB1-9C2D-262C-850E-069F029B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TEMPERATURA MODELU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54D38-E734-1EA8-EBD4-A0598320212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225"/>
            <a:ext cx="3405535" cy="2650131"/>
          </a:xfrm>
        </p:spPr>
        <p:txBody>
          <a:bodyPr anchor="t">
            <a:normAutofit/>
          </a:bodyPr>
          <a:lstStyle/>
          <a:p>
            <a:pPr marL="11430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1" i="0" u="none" strike="noStrike" cap="none" dirty="0" err="1">
                <a:solidFill>
                  <a:schemeClr val="dk1"/>
                </a:solidFill>
              </a:rPr>
              <a:t>Temperatura</a:t>
            </a:r>
            <a:r>
              <a:rPr lang="en-US" b="1" i="0" u="none" strike="noStrike" cap="none" dirty="0">
                <a:solidFill>
                  <a:schemeClr val="dk1"/>
                </a:solidFill>
              </a:rPr>
              <a:t> LLM 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to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parametr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który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wpływa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na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wyniki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modelu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językowego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określając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czy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wyniki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są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bardziej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losowe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kreatywne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czy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bardziej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przewidywalne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</a:t>
            </a:r>
          </a:p>
        </p:txBody>
      </p:sp>
      <p:pic>
        <p:nvPicPr>
          <p:cNvPr id="1026" name="Picture 2" descr="Scale for ChatGPT's temperature parameter.">
            <a:extLst>
              <a:ext uri="{FF2B5EF4-FFF2-40B4-BE49-F238E27FC236}">
                <a16:creationId xmlns:a16="http://schemas.microsoft.com/office/drawing/2014/main" id="{70B3DEBD-A4AC-0D79-4F8C-F011F9282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616" y="1426292"/>
            <a:ext cx="4574601" cy="257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58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07" y="770335"/>
            <a:ext cx="81515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0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"Data First, AI Second"?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07" y="1585392"/>
            <a:ext cx="2628164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01" y="1665387"/>
            <a:ext cx="318931" cy="318939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500"/>
          </a:p>
        </p:txBody>
      </p:sp>
      <p:sp>
        <p:nvSpPr>
          <p:cNvPr id="5" name="Text 2"/>
          <p:cNvSpPr/>
          <p:nvPr/>
        </p:nvSpPr>
        <p:spPr>
          <a:xfrm>
            <a:off x="3528069" y="1691953"/>
            <a:ext cx="21259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935587" y="1714054"/>
            <a:ext cx="2039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Zasada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935587" y="2077268"/>
            <a:ext cx="2039415" cy="453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AI nie naprawia złych danych — przyspiesza ich powielanie.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52178" y="1665387"/>
            <a:ext cx="318931" cy="318939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500"/>
          </a:p>
        </p:txBody>
      </p:sp>
      <p:sp>
        <p:nvSpPr>
          <p:cNvPr id="9" name="Text 6"/>
          <p:cNvSpPr/>
          <p:nvPr/>
        </p:nvSpPr>
        <p:spPr>
          <a:xfrm>
            <a:off x="6205345" y="1691953"/>
            <a:ext cx="21259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12864" y="1714054"/>
            <a:ext cx="20394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Przykład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2864" y="2077269"/>
            <a:ext cx="203948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Jedna scalona komórka w Excelu powoduje, że AI błędnie odczytuje sumy — błąd znika w tle automatyzacji.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901" y="3268043"/>
            <a:ext cx="318931" cy="318939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500"/>
          </a:p>
        </p:txBody>
      </p:sp>
      <p:sp>
        <p:nvSpPr>
          <p:cNvPr id="13" name="Text 10"/>
          <p:cNvSpPr/>
          <p:nvPr/>
        </p:nvSpPr>
        <p:spPr>
          <a:xfrm>
            <a:off x="3528069" y="3294609"/>
            <a:ext cx="21259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935587" y="3316710"/>
            <a:ext cx="47167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Wniosek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35587" y="3679924"/>
            <a:ext cx="4716767" cy="453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Najpierw porządek w danych, potem AI jako wzmocnienie — </a:t>
            </a:r>
            <a:r>
              <a:rPr lang="en-US" sz="1200" b="1" dirty="0">
                <a:latin typeface="Karla Bold" pitchFamily="34" charset="0"/>
                <a:ea typeface="Karla Bold" pitchFamily="34" charset="-122"/>
                <a:cs typeface="Karla Bold" pitchFamily="34" charset="-120"/>
              </a:rPr>
              <a:t>nigdy odwrotnie.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06" y="1881114"/>
            <a:ext cx="1078977" cy="215354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 sz="1500"/>
          </a:p>
        </p:txBody>
      </p:sp>
      <p:sp>
        <p:nvSpPr>
          <p:cNvPr id="3" name="Text 1"/>
          <p:cNvSpPr/>
          <p:nvPr/>
        </p:nvSpPr>
        <p:spPr>
          <a:xfrm>
            <a:off x="581159" y="1923604"/>
            <a:ext cx="136605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900" dirty="0">
                <a:latin typeface="Karla" pitchFamily="34" charset="0"/>
                <a:ea typeface="Karla" pitchFamily="34" charset="-122"/>
                <a:cs typeface="Karla" pitchFamily="34" charset="-120"/>
              </a:rPr>
              <a:t>RODZAJE DANYCH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07" y="2153172"/>
            <a:ext cx="81515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0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Jakie dane są w Waszej organizacji?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96107" y="2808759"/>
            <a:ext cx="8151559" cy="453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Zanim urząd wygeneruje raport, dane przechodzą przez kilka systemów i formatów. Każdy rodzaj wymaga innego traktowania przy pracy z AI.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06" y="401240"/>
            <a:ext cx="348845" cy="3488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07" y="921768"/>
            <a:ext cx="398990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podstawowe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96107" y="1222177"/>
            <a:ext cx="39899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Lista wydziałów, kontrahentów, struktura budżetu — względnie stałe obiekty.</a:t>
            </a:r>
            <a:endParaRPr lang="en-US" sz="1088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683" y="401240"/>
            <a:ext cx="348845" cy="3488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57683" y="921768"/>
            <a:ext cx="39899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referencyjne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657683" y="1222177"/>
            <a:ext cx="39899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Klasyfikacja budżetowa, kalendarz fiskalny, kody jednostek — słowniki i kody.</a:t>
            </a:r>
            <a:endParaRPr lang="en-US" sz="1088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06" y="1939825"/>
            <a:ext cx="348845" cy="3488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07" y="2460353"/>
            <a:ext cx="398990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transakcyjne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96107" y="2760762"/>
            <a:ext cx="39899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Faktury, płatności, zapisy księgowe w ERP — pojedyncze zdarzenia finansowe.</a:t>
            </a:r>
            <a:endParaRPr lang="en-US" sz="1088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683" y="1939825"/>
            <a:ext cx="348845" cy="3488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57683" y="2460353"/>
            <a:ext cx="39899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Metadane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657683" y="2760762"/>
            <a:ext cx="39899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Nazwa pliku, data eksportu, autor edycji, numer wersji — dane o danych.</a:t>
            </a:r>
            <a:endParaRPr lang="en-US" sz="1088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06" y="3478411"/>
            <a:ext cx="348845" cy="34885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07" y="3998938"/>
            <a:ext cx="398990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analityczne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496107" y="4299347"/>
            <a:ext cx="39899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Sumy miesięczne, prognozy kosztów, wskaźniki wykonania budżetu.</a:t>
            </a:r>
            <a:endParaRPr lang="en-US" sz="1088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7683" y="3478411"/>
            <a:ext cx="348845" cy="34885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657683" y="3998938"/>
            <a:ext cx="39899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nieustrukturyzowane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4657683" y="4299348"/>
            <a:ext cx="39899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Opisy wydatków, maile, skany PDF faktur — trudniejsze dla AI.</a:t>
            </a:r>
            <a:endParaRPr lang="en-US" sz="10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6391" y="571148"/>
            <a:ext cx="4722645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775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Hurtownie danych — jedno miejsce prawdy</a:t>
            </a:r>
            <a:endParaRPr lang="en-US" sz="2775" dirty="0"/>
          </a:p>
        </p:txBody>
      </p:sp>
      <p:sp>
        <p:nvSpPr>
          <p:cNvPr id="4" name="Shape 1"/>
          <p:cNvSpPr/>
          <p:nvPr/>
        </p:nvSpPr>
        <p:spPr>
          <a:xfrm>
            <a:off x="746391" y="1669723"/>
            <a:ext cx="4722645" cy="2771924"/>
          </a:xfrm>
          <a:prstGeom prst="roundRect">
            <a:avLst>
              <a:gd name="adj" fmla="val 2148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050"/>
          </a:p>
        </p:txBody>
      </p:sp>
      <p:sp>
        <p:nvSpPr>
          <p:cNvPr id="5" name="Shape 2"/>
          <p:cNvSpPr/>
          <p:nvPr/>
        </p:nvSpPr>
        <p:spPr>
          <a:xfrm>
            <a:off x="751154" y="1674486"/>
            <a:ext cx="2356560" cy="1718741"/>
          </a:xfrm>
          <a:custGeom>
            <a:avLst/>
            <a:gdLst/>
            <a:ahLst/>
            <a:cxnLst/>
            <a:rect l="l" t="t" r="r" b="b"/>
            <a:pathLst>
              <a:path w="3142080" h="2291655">
                <a:moveTo>
                  <a:pt x="66156" y="0"/>
                </a:moveTo>
                <a:lnTo>
                  <a:pt x="3142080" y="0"/>
                </a:lnTo>
                <a:lnTo>
                  <a:pt x="3142080" y="2291655"/>
                </a:lnTo>
                <a:lnTo>
                  <a:pt x="0" y="2291655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 sz="1050"/>
          </a:p>
        </p:txBody>
      </p:sp>
      <p:sp>
        <p:nvSpPr>
          <p:cNvPr id="6" name="Text 3"/>
          <p:cNvSpPr/>
          <p:nvPr/>
        </p:nvSpPr>
        <p:spPr>
          <a:xfrm>
            <a:off x="892909" y="1816245"/>
            <a:ext cx="2073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88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Problem dziś</a:t>
            </a:r>
            <a:endParaRPr lang="en-US" sz="1388" dirty="0"/>
          </a:p>
        </p:txBody>
      </p:sp>
      <p:sp>
        <p:nvSpPr>
          <p:cNvPr id="7" name="Text 4"/>
          <p:cNvSpPr/>
          <p:nvPr/>
        </p:nvSpPr>
        <p:spPr>
          <a:xfrm>
            <a:off x="892909" y="2122756"/>
            <a:ext cx="207305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Wiele wersji tego samego pliku, rozproszonych na różnych dyskach i w różnych folderach.</a:t>
            </a:r>
            <a:endParaRPr lang="en-US" sz="1088" dirty="0"/>
          </a:p>
        </p:txBody>
      </p:sp>
      <p:sp>
        <p:nvSpPr>
          <p:cNvPr id="8" name="Shape 5"/>
          <p:cNvSpPr/>
          <p:nvPr/>
        </p:nvSpPr>
        <p:spPr>
          <a:xfrm>
            <a:off x="3107714" y="1674486"/>
            <a:ext cx="2356560" cy="1718741"/>
          </a:xfrm>
          <a:custGeom>
            <a:avLst/>
            <a:gdLst/>
            <a:ahLst/>
            <a:cxnLst/>
            <a:rect l="l" t="t" r="r" b="b"/>
            <a:pathLst>
              <a:path w="3142080" h="2291655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2291655"/>
                </a:lnTo>
                <a:lnTo>
                  <a:pt x="0" y="2291655"/>
                </a:lnTo>
                <a:lnTo>
                  <a:pt x="0" y="0"/>
                </a:lnTo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 sz="1050"/>
          </a:p>
        </p:txBody>
      </p:sp>
      <p:sp>
        <p:nvSpPr>
          <p:cNvPr id="9" name="Shape 6"/>
          <p:cNvSpPr/>
          <p:nvPr/>
        </p:nvSpPr>
        <p:spPr>
          <a:xfrm>
            <a:off x="3107714" y="1674486"/>
            <a:ext cx="19049" cy="1718741"/>
          </a:xfrm>
          <a:prstGeom prst="roundRect">
            <a:avLst>
              <a:gd name="adj" fmla="val 50001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050"/>
          </a:p>
        </p:txBody>
      </p:sp>
      <p:sp>
        <p:nvSpPr>
          <p:cNvPr id="10" name="Text 7"/>
          <p:cNvSpPr/>
          <p:nvPr/>
        </p:nvSpPr>
        <p:spPr>
          <a:xfrm>
            <a:off x="3249469" y="1816244"/>
            <a:ext cx="20730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388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Cel: Single Source of Truth</a:t>
            </a:r>
            <a:endParaRPr lang="en-US" sz="1388" dirty="0"/>
          </a:p>
        </p:txBody>
      </p:sp>
      <p:sp>
        <p:nvSpPr>
          <p:cNvPr id="11" name="Text 8"/>
          <p:cNvSpPr/>
          <p:nvPr/>
        </p:nvSpPr>
        <p:spPr>
          <a:xfrm>
            <a:off x="3249469" y="2344213"/>
            <a:ext cx="20730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Hurtownia danych to archiwum + magazyn — zawsze bierzesz z niego to samo, bez ryzyka rozjazdu wersji.</a:t>
            </a:r>
            <a:endParaRPr lang="en-US" sz="1088" dirty="0"/>
          </a:p>
        </p:txBody>
      </p:sp>
      <p:sp>
        <p:nvSpPr>
          <p:cNvPr id="12" name="Shape 9"/>
          <p:cNvSpPr/>
          <p:nvPr/>
        </p:nvSpPr>
        <p:spPr>
          <a:xfrm>
            <a:off x="751154" y="3393228"/>
            <a:ext cx="4713120" cy="1043657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 sz="1050"/>
          </a:p>
        </p:txBody>
      </p:sp>
      <p:sp>
        <p:nvSpPr>
          <p:cNvPr id="13" name="Shape 10"/>
          <p:cNvSpPr/>
          <p:nvPr/>
        </p:nvSpPr>
        <p:spPr>
          <a:xfrm>
            <a:off x="751154" y="3393228"/>
            <a:ext cx="4713120" cy="19050"/>
          </a:xfrm>
          <a:prstGeom prst="roundRect">
            <a:avLst>
              <a:gd name="adj" fmla="val 49999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050"/>
          </a:p>
        </p:txBody>
      </p:sp>
      <p:sp>
        <p:nvSpPr>
          <p:cNvPr id="14" name="Text 11"/>
          <p:cNvSpPr/>
          <p:nvPr/>
        </p:nvSpPr>
        <p:spPr>
          <a:xfrm>
            <a:off x="892909" y="3534987"/>
            <a:ext cx="44296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88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Kierunek dojrzałości</a:t>
            </a:r>
            <a:endParaRPr lang="en-US" sz="1388" dirty="0"/>
          </a:p>
        </p:txBody>
      </p:sp>
      <p:sp>
        <p:nvSpPr>
          <p:cNvPr id="15" name="Text 12"/>
          <p:cNvSpPr/>
          <p:nvPr/>
        </p:nvSpPr>
        <p:spPr>
          <a:xfrm>
            <a:off x="892909" y="3841498"/>
            <a:ext cx="4429610" cy="453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88" dirty="0">
                <a:latin typeface="Karla" pitchFamily="34" charset="0"/>
                <a:ea typeface="Karla" pitchFamily="34" charset="-122"/>
                <a:cs typeface="Karla" pitchFamily="34" charset="-120"/>
              </a:rPr>
              <a:t>Nie zadanie na to szkolenie — ale warto rozumieć, gdzie kończy się ręczna praca, a zaczyna ryzyko błędu.</a:t>
            </a:r>
            <a:endParaRPr lang="en-US" sz="1088" dirty="0"/>
          </a:p>
        </p:txBody>
      </p:sp>
    </p:spTree>
    <p:extLst>
      <p:ext uri="{BB962C8B-B14F-4D97-AF65-F5344CB8AC3E}">
        <p14:creationId xmlns:p14="http://schemas.microsoft.com/office/powerpoint/2010/main" val="323117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-2651560" y="77557"/>
            <a:ext cx="8608748" cy="53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2400" dirty="0">
                <a:latin typeface="Karla" pitchFamily="34" charset="0"/>
                <a:ea typeface="Karla" pitchFamily="34" charset="-122"/>
                <a:cs typeface="Karla" pitchFamily="34" charset="-120"/>
              </a:rPr>
              <a:t>Dane </a:t>
            </a:r>
            <a:r>
              <a:rPr lang="en-US" sz="2400" dirty="0" err="1">
                <a:latin typeface="Karla" pitchFamily="34" charset="0"/>
                <a:ea typeface="Karla" pitchFamily="34" charset="-122"/>
                <a:cs typeface="Karla" pitchFamily="34" charset="-120"/>
              </a:rPr>
              <a:t>Medalionowe</a:t>
            </a:r>
            <a:endParaRPr lang="en-US" sz="2400" dirty="0"/>
          </a:p>
        </p:txBody>
      </p:sp>
      <p:sp>
        <p:nvSpPr>
          <p:cNvPr id="18" name="Layers label">
            <a:extLst>
              <a:ext uri="{FF2B5EF4-FFF2-40B4-BE49-F238E27FC236}">
                <a16:creationId xmlns:a16="http://schemas.microsoft.com/office/drawing/2014/main" id="{97A4D727-B274-05B1-584C-557E4C92433A}"/>
              </a:ext>
            </a:extLst>
          </p:cNvPr>
          <p:cNvSpPr txBox="1"/>
          <p:nvPr/>
        </p:nvSpPr>
        <p:spPr>
          <a:xfrm>
            <a:off x="3102429" y="653637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595959"/>
                </a:solidFill>
                <a:latin typeface="Geologica SemiBold"/>
                <a:ea typeface="Geologica SemiBold"/>
                <a:cs typeface="Geologica SemiBold"/>
              </a:rPr>
              <a:t>Warstwy danych w hurtowni</a:t>
            </a:r>
          </a:p>
        </p:txBody>
      </p:sp>
      <p:sp>
        <p:nvSpPr>
          <p:cNvPr id="20" name="Layer Brązowa">
            <a:extLst>
              <a:ext uri="{FF2B5EF4-FFF2-40B4-BE49-F238E27FC236}">
                <a16:creationId xmlns:a16="http://schemas.microsoft.com/office/drawing/2014/main" id="{BAD47414-B0A2-5711-EA89-3D4527C4FD24}"/>
              </a:ext>
            </a:extLst>
          </p:cNvPr>
          <p:cNvSpPr/>
          <p:nvPr/>
        </p:nvSpPr>
        <p:spPr>
          <a:xfrm>
            <a:off x="3102429" y="1009237"/>
            <a:ext cx="2667000" cy="952500"/>
          </a:xfrm>
          <a:prstGeom prst="roundRect">
            <a:avLst>
              <a:gd name="adj" fmla="val 10000"/>
            </a:avLst>
          </a:prstGeom>
          <a:solidFill>
            <a:srgbClr val="D9A273"/>
          </a:solidFill>
          <a:ln w="9525">
            <a:solidFill>
              <a:srgbClr val="B87333"/>
            </a:solidFill>
          </a:ln>
        </p:spPr>
        <p:txBody>
          <a:bodyPr wrap="square" lIns="177800" tIns="101600" rIns="177800" bIns="10160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Brązowa</a:t>
            </a:r>
          </a:p>
          <a:p>
            <a:pPr algn="l">
              <a:buNone/>
            </a:pPr>
            <a:r>
              <a:rPr lang="pl-PL" sz="12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Surowe dane prosto ze źródeł</a:t>
            </a:r>
          </a:p>
        </p:txBody>
      </p:sp>
      <p:sp>
        <p:nvSpPr>
          <p:cNvPr id="22" name="Arrow 104">
            <a:extLst>
              <a:ext uri="{FF2B5EF4-FFF2-40B4-BE49-F238E27FC236}">
                <a16:creationId xmlns:a16="http://schemas.microsoft.com/office/drawing/2014/main" id="{7648FEB1-8E91-0D43-B55E-4DEEA9B33F5D}"/>
              </a:ext>
            </a:extLst>
          </p:cNvPr>
          <p:cNvSpPr/>
          <p:nvPr/>
        </p:nvSpPr>
        <p:spPr>
          <a:xfrm>
            <a:off x="4308929" y="2012537"/>
            <a:ext cx="254000" cy="2286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4" name="Layer Srebrna">
            <a:extLst>
              <a:ext uri="{FF2B5EF4-FFF2-40B4-BE49-F238E27FC236}">
                <a16:creationId xmlns:a16="http://schemas.microsoft.com/office/drawing/2014/main" id="{D0C13C13-F86C-3840-9B82-5ECC7AD765DE}"/>
              </a:ext>
            </a:extLst>
          </p:cNvPr>
          <p:cNvSpPr/>
          <p:nvPr/>
        </p:nvSpPr>
        <p:spPr>
          <a:xfrm>
            <a:off x="3102429" y="2291937"/>
            <a:ext cx="2667000" cy="952500"/>
          </a:xfrm>
          <a:prstGeom prst="roundRect">
            <a:avLst>
              <a:gd name="adj" fmla="val 10000"/>
            </a:avLst>
          </a:prstGeom>
          <a:solidFill>
            <a:srgbClr val="D9D9D9"/>
          </a:solidFill>
          <a:ln w="9525">
            <a:solidFill>
              <a:srgbClr val="A6A6A6"/>
            </a:solidFill>
          </a:ln>
        </p:spPr>
        <p:txBody>
          <a:bodyPr wrap="square" lIns="177800" tIns="101600" rIns="177800" bIns="10160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Srebrna</a:t>
            </a:r>
          </a:p>
          <a:p>
            <a:pPr algn="l">
              <a:buNone/>
            </a:pPr>
            <a:r>
              <a:rPr lang="pl-PL" sz="12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Dane oczyszczone i ujednolicone</a:t>
            </a:r>
          </a:p>
        </p:txBody>
      </p:sp>
      <p:sp>
        <p:nvSpPr>
          <p:cNvPr id="26" name="Arrow 105">
            <a:extLst>
              <a:ext uri="{FF2B5EF4-FFF2-40B4-BE49-F238E27FC236}">
                <a16:creationId xmlns:a16="http://schemas.microsoft.com/office/drawing/2014/main" id="{B40757CF-CA9C-42A5-5FAD-7C4BF698134A}"/>
              </a:ext>
            </a:extLst>
          </p:cNvPr>
          <p:cNvSpPr/>
          <p:nvPr/>
        </p:nvSpPr>
        <p:spPr>
          <a:xfrm>
            <a:off x="4308929" y="3295237"/>
            <a:ext cx="254000" cy="2286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8" name="Layer Złota">
            <a:extLst>
              <a:ext uri="{FF2B5EF4-FFF2-40B4-BE49-F238E27FC236}">
                <a16:creationId xmlns:a16="http://schemas.microsoft.com/office/drawing/2014/main" id="{920AECE2-1F98-0687-BDBA-724E4E0313CF}"/>
              </a:ext>
            </a:extLst>
          </p:cNvPr>
          <p:cNvSpPr/>
          <p:nvPr/>
        </p:nvSpPr>
        <p:spPr>
          <a:xfrm>
            <a:off x="3102429" y="3574637"/>
            <a:ext cx="2667000" cy="952500"/>
          </a:xfrm>
          <a:prstGeom prst="roundRect">
            <a:avLst>
              <a:gd name="adj" fmla="val 10000"/>
            </a:avLst>
          </a:prstGeom>
          <a:solidFill>
            <a:srgbClr val="E8C766"/>
          </a:solidFill>
          <a:ln w="9525">
            <a:solidFill>
              <a:srgbClr val="C9A227"/>
            </a:solidFill>
          </a:ln>
        </p:spPr>
        <p:txBody>
          <a:bodyPr wrap="square" lIns="177800" tIns="101600" rIns="177800" bIns="10160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Złota</a:t>
            </a:r>
          </a:p>
          <a:p>
            <a:pPr algn="l">
              <a:buNone/>
            </a:pPr>
            <a:r>
              <a:rPr lang="pl-PL" sz="12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Dane gotowe do raportów i decyzji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96119" y="388069"/>
            <a:ext cx="5289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Czym są tokeny?</a:t>
            </a:r>
          </a:p>
        </p:txBody>
      </p:sp>
      <p:sp>
        <p:nvSpPr>
          <p:cNvPr id="5" name="Text 2"/>
          <p:cNvSpPr/>
          <p:nvPr/>
        </p:nvSpPr>
        <p:spPr>
          <a:xfrm>
            <a:off x="495300" y="914400"/>
            <a:ext cx="815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Zanim tekst trafi do modelu, jest cięty na kawałki –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tokeny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 – a każdy kawałek dostaje numer.</a:t>
            </a:r>
          </a:p>
        </p:txBody>
      </p:sp>
      <p:sp>
        <p:nvSpPr>
          <p:cNvPr id="200" name="Box 200"/>
          <p:cNvSpPr/>
          <p:nvPr/>
        </p:nvSpPr>
        <p:spPr>
          <a:xfrm>
            <a:off x="495300" y="14224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Przykład na zdaniu fikcyjnym (podział i numery poglądowe):</a:t>
            </a:r>
          </a:p>
        </p:txBody>
      </p:sp>
      <p:sp>
        <p:nvSpPr>
          <p:cNvPr id="201" name="Token 201"/>
          <p:cNvSpPr/>
          <p:nvPr/>
        </p:nvSpPr>
        <p:spPr>
          <a:xfrm>
            <a:off x="495300" y="1727200"/>
            <a:ext cx="723900" cy="381000"/>
          </a:xfrm>
          <a:prstGeom prst="roundRect">
            <a:avLst>
              <a:gd name="adj" fmla="val 18000"/>
            </a:avLst>
          </a:prstGeom>
          <a:solidFill>
            <a:srgbClr val="FAD4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Wnios</a:t>
            </a:r>
          </a:p>
        </p:txBody>
      </p:sp>
      <p:sp>
        <p:nvSpPr>
          <p:cNvPr id="202" name="TokenId 202"/>
          <p:cNvSpPr/>
          <p:nvPr/>
        </p:nvSpPr>
        <p:spPr>
          <a:xfrm>
            <a:off x="444500" y="2146300"/>
            <a:ext cx="82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54821</a:t>
            </a:r>
          </a:p>
        </p:txBody>
      </p:sp>
      <p:sp>
        <p:nvSpPr>
          <p:cNvPr id="203" name="Token 203"/>
          <p:cNvSpPr/>
          <p:nvPr/>
        </p:nvSpPr>
        <p:spPr>
          <a:xfrm>
            <a:off x="1282700" y="1727200"/>
            <a:ext cx="431800" cy="381000"/>
          </a:xfrm>
          <a:prstGeom prst="roundRect">
            <a:avLst>
              <a:gd name="adj" fmla="val 18000"/>
            </a:avLst>
          </a:prstGeom>
          <a:solidFill>
            <a:srgbClr val="D6E4F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ek</a:t>
            </a:r>
          </a:p>
        </p:txBody>
      </p:sp>
      <p:sp>
        <p:nvSpPr>
          <p:cNvPr id="204" name="TokenId 204"/>
          <p:cNvSpPr/>
          <p:nvPr/>
        </p:nvSpPr>
        <p:spPr>
          <a:xfrm>
            <a:off x="1231900" y="21463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1033</a:t>
            </a:r>
          </a:p>
        </p:txBody>
      </p:sp>
      <p:sp>
        <p:nvSpPr>
          <p:cNvPr id="205" name="Token 205"/>
          <p:cNvSpPr/>
          <p:nvPr/>
        </p:nvSpPr>
        <p:spPr>
          <a:xfrm>
            <a:off x="1778000" y="1727200"/>
            <a:ext cx="431800" cy="381000"/>
          </a:xfrm>
          <a:prstGeom prst="roundRect">
            <a:avLst>
              <a:gd name="adj" fmla="val 18000"/>
            </a:avLst>
          </a:prstGeom>
          <a:solidFill>
            <a:srgbClr val="FCE8C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o</a:t>
            </a:r>
          </a:p>
        </p:txBody>
      </p:sp>
      <p:sp>
        <p:nvSpPr>
          <p:cNvPr id="206" name="TokenId 206"/>
          <p:cNvSpPr/>
          <p:nvPr/>
        </p:nvSpPr>
        <p:spPr>
          <a:xfrm>
            <a:off x="1727200" y="21463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297</a:t>
            </a:r>
          </a:p>
        </p:txBody>
      </p:sp>
      <p:sp>
        <p:nvSpPr>
          <p:cNvPr id="207" name="Token 207"/>
          <p:cNvSpPr/>
          <p:nvPr/>
        </p:nvSpPr>
        <p:spPr>
          <a:xfrm>
            <a:off x="2273300" y="1727200"/>
            <a:ext cx="515620" cy="381000"/>
          </a:xfrm>
          <a:prstGeom prst="roundRect">
            <a:avLst>
              <a:gd name="adj" fmla="val 18000"/>
            </a:avLst>
          </a:prstGeom>
          <a:solidFill>
            <a:srgbClr val="D5EFE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dof</a:t>
            </a:r>
          </a:p>
        </p:txBody>
      </p:sp>
      <p:sp>
        <p:nvSpPr>
          <p:cNvPr id="208" name="TokenId 208"/>
          <p:cNvSpPr/>
          <p:nvPr/>
        </p:nvSpPr>
        <p:spPr>
          <a:xfrm>
            <a:off x="2222500" y="2146300"/>
            <a:ext cx="6172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8712</a:t>
            </a:r>
          </a:p>
        </p:txBody>
      </p:sp>
      <p:sp>
        <p:nvSpPr>
          <p:cNvPr id="209" name="Token 209"/>
          <p:cNvSpPr/>
          <p:nvPr/>
        </p:nvSpPr>
        <p:spPr>
          <a:xfrm>
            <a:off x="2852420" y="1727200"/>
            <a:ext cx="723900" cy="381000"/>
          </a:xfrm>
          <a:prstGeom prst="roundRect">
            <a:avLst>
              <a:gd name="adj" fmla="val 18000"/>
            </a:avLst>
          </a:prstGeom>
          <a:solidFill>
            <a:srgbClr val="E6DDF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inans</a:t>
            </a:r>
          </a:p>
        </p:txBody>
      </p:sp>
      <p:sp>
        <p:nvSpPr>
          <p:cNvPr id="210" name="TokenId 210"/>
          <p:cNvSpPr/>
          <p:nvPr/>
        </p:nvSpPr>
        <p:spPr>
          <a:xfrm>
            <a:off x="2801620" y="2146300"/>
            <a:ext cx="82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20954</a:t>
            </a:r>
          </a:p>
        </p:txBody>
      </p:sp>
      <p:sp>
        <p:nvSpPr>
          <p:cNvPr id="211" name="Token 211"/>
          <p:cNvSpPr/>
          <p:nvPr/>
        </p:nvSpPr>
        <p:spPr>
          <a:xfrm>
            <a:off x="3639820" y="1727200"/>
            <a:ext cx="828040" cy="381000"/>
          </a:xfrm>
          <a:prstGeom prst="roundRect">
            <a:avLst>
              <a:gd name="adj" fmla="val 18000"/>
            </a:avLst>
          </a:prstGeom>
          <a:solidFill>
            <a:srgbClr val="FAD4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owanie</a:t>
            </a:r>
          </a:p>
        </p:txBody>
      </p:sp>
      <p:sp>
        <p:nvSpPr>
          <p:cNvPr id="212" name="TokenId 212"/>
          <p:cNvSpPr/>
          <p:nvPr/>
        </p:nvSpPr>
        <p:spPr>
          <a:xfrm>
            <a:off x="3589020" y="2146300"/>
            <a:ext cx="929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6410</a:t>
            </a:r>
          </a:p>
        </p:txBody>
      </p:sp>
      <p:sp>
        <p:nvSpPr>
          <p:cNvPr id="213" name="Token 213"/>
          <p:cNvSpPr/>
          <p:nvPr/>
        </p:nvSpPr>
        <p:spPr>
          <a:xfrm>
            <a:off x="4531360" y="1727200"/>
            <a:ext cx="515620" cy="381000"/>
          </a:xfrm>
          <a:prstGeom prst="roundRect">
            <a:avLst>
              <a:gd name="adj" fmla="val 18000"/>
            </a:avLst>
          </a:prstGeom>
          <a:solidFill>
            <a:srgbClr val="D6E4F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zło</a:t>
            </a:r>
          </a:p>
        </p:txBody>
      </p:sp>
      <p:sp>
        <p:nvSpPr>
          <p:cNvPr id="214" name="TokenId 214"/>
          <p:cNvSpPr/>
          <p:nvPr/>
        </p:nvSpPr>
        <p:spPr>
          <a:xfrm>
            <a:off x="4480560" y="2146300"/>
            <a:ext cx="6172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11873</a:t>
            </a:r>
          </a:p>
        </p:txBody>
      </p:sp>
      <p:sp>
        <p:nvSpPr>
          <p:cNvPr id="215" name="Token 215"/>
          <p:cNvSpPr/>
          <p:nvPr/>
        </p:nvSpPr>
        <p:spPr>
          <a:xfrm>
            <a:off x="5110480" y="1727200"/>
            <a:ext cx="619760" cy="381000"/>
          </a:xfrm>
          <a:prstGeom prst="roundRect">
            <a:avLst>
              <a:gd name="adj" fmla="val 18000"/>
            </a:avLst>
          </a:prstGeom>
          <a:solidFill>
            <a:srgbClr val="FCE8C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żono</a:t>
            </a:r>
          </a:p>
        </p:txBody>
      </p:sp>
      <p:sp>
        <p:nvSpPr>
          <p:cNvPr id="216" name="TokenId 216"/>
          <p:cNvSpPr/>
          <p:nvPr/>
        </p:nvSpPr>
        <p:spPr>
          <a:xfrm>
            <a:off x="5059680" y="2146300"/>
            <a:ext cx="721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3095</a:t>
            </a:r>
          </a:p>
        </p:txBody>
      </p:sp>
      <p:sp>
        <p:nvSpPr>
          <p:cNvPr id="217" name="Token 217"/>
          <p:cNvSpPr/>
          <p:nvPr/>
        </p:nvSpPr>
        <p:spPr>
          <a:xfrm>
            <a:off x="5793740" y="1727200"/>
            <a:ext cx="431800" cy="381000"/>
          </a:xfrm>
          <a:prstGeom prst="roundRect">
            <a:avLst>
              <a:gd name="adj" fmla="val 18000"/>
            </a:avLst>
          </a:prstGeom>
          <a:solidFill>
            <a:srgbClr val="D5EFE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w</a:t>
            </a:r>
          </a:p>
        </p:txBody>
      </p:sp>
      <p:sp>
        <p:nvSpPr>
          <p:cNvPr id="218" name="TokenId 218"/>
          <p:cNvSpPr/>
          <p:nvPr/>
        </p:nvSpPr>
        <p:spPr>
          <a:xfrm>
            <a:off x="5742940" y="21463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289</a:t>
            </a:r>
          </a:p>
        </p:txBody>
      </p:sp>
      <p:sp>
        <p:nvSpPr>
          <p:cNvPr id="219" name="Token 219"/>
          <p:cNvSpPr/>
          <p:nvPr/>
        </p:nvSpPr>
        <p:spPr>
          <a:xfrm>
            <a:off x="6289040" y="1727200"/>
            <a:ext cx="1036320" cy="381000"/>
          </a:xfrm>
          <a:prstGeom prst="roundRect">
            <a:avLst>
              <a:gd name="adj" fmla="val 18000"/>
            </a:avLst>
          </a:prstGeom>
          <a:solidFill>
            <a:srgbClr val="E6DDF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terminie</a:t>
            </a:r>
          </a:p>
        </p:txBody>
      </p:sp>
      <p:sp>
        <p:nvSpPr>
          <p:cNvPr id="220" name="TokenId 220"/>
          <p:cNvSpPr/>
          <p:nvPr/>
        </p:nvSpPr>
        <p:spPr>
          <a:xfrm>
            <a:off x="6238240" y="2146300"/>
            <a:ext cx="1137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40517</a:t>
            </a:r>
          </a:p>
        </p:txBody>
      </p:sp>
      <p:sp>
        <p:nvSpPr>
          <p:cNvPr id="221" name="Token 221"/>
          <p:cNvSpPr/>
          <p:nvPr/>
        </p:nvSpPr>
        <p:spPr>
          <a:xfrm>
            <a:off x="7388860" y="1727200"/>
            <a:ext cx="431800" cy="381000"/>
          </a:xfrm>
          <a:prstGeom prst="roundRect">
            <a:avLst>
              <a:gd name="adj" fmla="val 18000"/>
            </a:avLst>
          </a:prstGeom>
          <a:solidFill>
            <a:srgbClr val="FAD4C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.</a:t>
            </a:r>
          </a:p>
        </p:txBody>
      </p:sp>
      <p:sp>
        <p:nvSpPr>
          <p:cNvPr id="222" name="TokenId 222"/>
          <p:cNvSpPr/>
          <p:nvPr/>
        </p:nvSpPr>
        <p:spPr>
          <a:xfrm>
            <a:off x="7338060" y="21463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13</a:t>
            </a:r>
          </a:p>
        </p:txBody>
      </p:sp>
      <p:sp>
        <p:nvSpPr>
          <p:cNvPr id="223" name="Box 223"/>
          <p:cNvSpPr/>
          <p:nvPr/>
        </p:nvSpPr>
        <p:spPr>
          <a:xfrm>
            <a:off x="5473700" y="1397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</a:pPr>
            <a:r>
              <a:rPr lang="pl-PL" sz="14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5 słów → 11 tokenów</a:t>
            </a:r>
          </a:p>
        </p:txBody>
      </p:sp>
      <p:sp>
        <p:nvSpPr>
          <p:cNvPr id="224" name="Box 224"/>
          <p:cNvSpPr/>
          <p:nvPr/>
        </p:nvSpPr>
        <p:spPr>
          <a:xfrm>
            <a:off x="495300" y="3079750"/>
            <a:ext cx="8153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Wszystko w Claude liczy się w tokenach – nikt nie liczy słów ani stron</a:t>
            </a:r>
          </a:p>
        </p:txBody>
      </p:sp>
      <p:sp>
        <p:nvSpPr>
          <p:cNvPr id="228" name="Box 228"/>
          <p:cNvSpPr/>
          <p:nvPr/>
        </p:nvSpPr>
        <p:spPr>
          <a:xfrm>
            <a:off x="495300" y="4343400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Sprawdź sam: platform.openai.com/tokenizer – tokenizer OpenAI; Claude ma własny, ale mechanizm jest ten sam.</a:t>
            </a:r>
          </a:p>
          <a:p>
            <a:pPr algn="l">
              <a:buNone/>
            </a:pPr>
            <a:r>
              <a:rPr lang="pl-PL" sz="1100" b="1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Wklejaj tylko tekst fikcyjny – nigdy fragmentów realnych dokumentów Urzędu.</a:t>
            </a:r>
          </a:p>
        </p:txBody>
      </p:sp>
    </p:spTree>
    <p:extLst>
      <p:ext uri="{BB962C8B-B14F-4D97-AF65-F5344CB8AC3E}">
        <p14:creationId xmlns:p14="http://schemas.microsoft.com/office/powerpoint/2010/main" val="2868169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0CA55A-BC2E-3A60-F999-4427AB7C0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672" y="726346"/>
            <a:ext cx="6030202" cy="418039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D7E6E41-5B01-36F8-DFB0-D8EEA8472377}"/>
              </a:ext>
            </a:extLst>
          </p:cNvPr>
          <p:cNvSpPr/>
          <p:nvPr/>
        </p:nvSpPr>
        <p:spPr>
          <a:xfrm>
            <a:off x="430805" y="170355"/>
            <a:ext cx="5289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Claude </a:t>
            </a:r>
            <a:r>
              <a:rPr lang="en-US" sz="2781" dirty="0" err="1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Czat</a:t>
            </a:r>
            <a:endParaRPr lang="en-US" sz="278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0925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 3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Czym jest plik Markdown (.md)?</a:t>
            </a:r>
          </a:p>
        </p:txBody>
      </p:sp>
      <p:sp>
        <p:nvSpPr>
          <p:cNvPr id="301" name="Subtitle 301"/>
          <p:cNvSpPr/>
          <p:nvPr/>
        </p:nvSpPr>
        <p:spPr>
          <a:xfrm>
            <a:off x="495300" y="9144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Zwykły plik tekstowy z kilkoma prostymi znakami formatowania. Claude najlepiej czyta i pisze właśnie w tym formacie – dlatego tak zapisuje się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instrukcje, notatki i skille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.</a:t>
            </a:r>
          </a:p>
        </p:txBody>
      </p:sp>
      <p:sp>
        <p:nvSpPr>
          <p:cNvPr id="302" name="HdrL 302"/>
          <p:cNvSpPr/>
          <p:nvPr/>
        </p:nvSpPr>
        <p:spPr>
          <a:xfrm>
            <a:off x="495300" y="1600200"/>
            <a:ext cx="3924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595959"/>
                </a:solidFill>
                <a:latin typeface="Geologica SemiBold"/>
                <a:ea typeface="Geologica SemiBold"/>
                <a:cs typeface="Geologica SemiBold"/>
              </a:rPr>
              <a:t>Wpisujesz</a:t>
            </a:r>
          </a:p>
        </p:txBody>
      </p:sp>
      <p:sp>
        <p:nvSpPr>
          <p:cNvPr id="303" name="HdrR 303"/>
          <p:cNvSpPr/>
          <p:nvPr/>
        </p:nvSpPr>
        <p:spPr>
          <a:xfrm>
            <a:off x="4724400" y="1600200"/>
            <a:ext cx="3924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595959"/>
                </a:solidFill>
                <a:latin typeface="Geologica SemiBold"/>
                <a:ea typeface="Geologica SemiBold"/>
                <a:cs typeface="Geologica SemiBold"/>
              </a:rPr>
              <a:t>Widzisz</a:t>
            </a:r>
          </a:p>
        </p:txBody>
      </p:sp>
      <p:sp>
        <p:nvSpPr>
          <p:cNvPr id="304" name="Code 304"/>
          <p:cNvSpPr/>
          <p:nvPr/>
        </p:nvSpPr>
        <p:spPr>
          <a:xfrm>
            <a:off x="495300" y="1930400"/>
            <a:ext cx="3924300" cy="355600"/>
          </a:xfrm>
          <a:prstGeom prst="roundRect">
            <a:avLst>
              <a:gd name="adj" fmla="val 15000"/>
            </a:avLst>
          </a:prstGeom>
          <a:solidFill>
            <a:srgbClr val="FAD4CF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# Plan szkolenia</a:t>
            </a:r>
          </a:p>
        </p:txBody>
      </p:sp>
      <p:sp>
        <p:nvSpPr>
          <p:cNvPr id="305" name="Result 305"/>
          <p:cNvSpPr/>
          <p:nvPr/>
        </p:nvSpPr>
        <p:spPr>
          <a:xfrm>
            <a:off x="4724400" y="1930400"/>
            <a:ext cx="39243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8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Plan szkolenia</a:t>
            </a:r>
          </a:p>
        </p:txBody>
      </p:sp>
      <p:sp>
        <p:nvSpPr>
          <p:cNvPr id="306" name="Code 306"/>
          <p:cNvSpPr/>
          <p:nvPr/>
        </p:nvSpPr>
        <p:spPr>
          <a:xfrm>
            <a:off x="495300" y="2362200"/>
            <a:ext cx="3924300" cy="355600"/>
          </a:xfrm>
          <a:prstGeom prst="roundRect">
            <a:avLst>
              <a:gd name="adj" fmla="val 15000"/>
            </a:avLst>
          </a:prstGeom>
          <a:solidFill>
            <a:srgbClr val="FAD4CF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**termin złożenia**</a:t>
            </a:r>
          </a:p>
        </p:txBody>
      </p:sp>
      <p:sp>
        <p:nvSpPr>
          <p:cNvPr id="307" name="Result 307"/>
          <p:cNvSpPr/>
          <p:nvPr/>
        </p:nvSpPr>
        <p:spPr>
          <a:xfrm>
            <a:off x="4724400" y="2362200"/>
            <a:ext cx="39243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termin złożenia</a:t>
            </a:r>
          </a:p>
        </p:txBody>
      </p:sp>
      <p:sp>
        <p:nvSpPr>
          <p:cNvPr id="308" name="Code 308"/>
          <p:cNvSpPr/>
          <p:nvPr/>
        </p:nvSpPr>
        <p:spPr>
          <a:xfrm>
            <a:off x="495300" y="2794000"/>
            <a:ext cx="3924300" cy="355600"/>
          </a:xfrm>
          <a:prstGeom prst="roundRect">
            <a:avLst>
              <a:gd name="adj" fmla="val 15000"/>
            </a:avLst>
          </a:prstGeom>
          <a:solidFill>
            <a:srgbClr val="FAD4CF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*wersja robocza*</a:t>
            </a:r>
          </a:p>
        </p:txBody>
      </p:sp>
      <p:sp>
        <p:nvSpPr>
          <p:cNvPr id="309" name="Result 309"/>
          <p:cNvSpPr/>
          <p:nvPr/>
        </p:nvSpPr>
        <p:spPr>
          <a:xfrm>
            <a:off x="4724400" y="2794000"/>
            <a:ext cx="39243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i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wersja robocza</a:t>
            </a:r>
          </a:p>
        </p:txBody>
      </p:sp>
      <p:sp>
        <p:nvSpPr>
          <p:cNvPr id="310" name="Code 310"/>
          <p:cNvSpPr/>
          <p:nvPr/>
        </p:nvSpPr>
        <p:spPr>
          <a:xfrm>
            <a:off x="495300" y="3225800"/>
            <a:ext cx="3924300" cy="355600"/>
          </a:xfrm>
          <a:prstGeom prst="roundRect">
            <a:avLst>
              <a:gd name="adj" fmla="val 15000"/>
            </a:avLst>
          </a:prstGeom>
          <a:solidFill>
            <a:srgbClr val="FAD4CF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- pierwszy punkt listy</a:t>
            </a:r>
          </a:p>
        </p:txBody>
      </p:sp>
      <p:sp>
        <p:nvSpPr>
          <p:cNvPr id="311" name="Result 311"/>
          <p:cNvSpPr/>
          <p:nvPr/>
        </p:nvSpPr>
        <p:spPr>
          <a:xfrm>
            <a:off x="4724400" y="3225800"/>
            <a:ext cx="39243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•  pierwszy punkt listy</a:t>
            </a:r>
          </a:p>
        </p:txBody>
      </p:sp>
      <p:sp>
        <p:nvSpPr>
          <p:cNvPr id="312" name="Code 312"/>
          <p:cNvSpPr/>
          <p:nvPr/>
        </p:nvSpPr>
        <p:spPr>
          <a:xfrm>
            <a:off x="495300" y="3657600"/>
            <a:ext cx="3924300" cy="355600"/>
          </a:xfrm>
          <a:prstGeom prst="roundRect">
            <a:avLst>
              <a:gd name="adj" fmla="val 15000"/>
            </a:avLst>
          </a:prstGeom>
          <a:solidFill>
            <a:srgbClr val="FAD4CF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1. krok pierwszy</a:t>
            </a:r>
          </a:p>
        </p:txBody>
      </p:sp>
      <p:sp>
        <p:nvSpPr>
          <p:cNvPr id="313" name="Result 313"/>
          <p:cNvSpPr/>
          <p:nvPr/>
        </p:nvSpPr>
        <p:spPr>
          <a:xfrm>
            <a:off x="4724400" y="3657600"/>
            <a:ext cx="39243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1.  krok pierwszy</a:t>
            </a:r>
          </a:p>
        </p:txBody>
      </p:sp>
      <p:sp>
        <p:nvSpPr>
          <p:cNvPr id="314" name="Code 314"/>
          <p:cNvSpPr/>
          <p:nvPr/>
        </p:nvSpPr>
        <p:spPr>
          <a:xfrm>
            <a:off x="495300" y="4089400"/>
            <a:ext cx="3924300" cy="355600"/>
          </a:xfrm>
          <a:prstGeom prst="roundRect">
            <a:avLst>
              <a:gd name="adj" fmla="val 15000"/>
            </a:avLst>
          </a:prstGeom>
          <a:solidFill>
            <a:srgbClr val="FAD4CF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[strona Urzędu](https://opole.pl)</a:t>
            </a:r>
          </a:p>
        </p:txBody>
      </p:sp>
      <p:sp>
        <p:nvSpPr>
          <p:cNvPr id="315" name="Result 315"/>
          <p:cNvSpPr/>
          <p:nvPr/>
        </p:nvSpPr>
        <p:spPr>
          <a:xfrm>
            <a:off x="4724400" y="4089400"/>
            <a:ext cx="39243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400" u="sng" dirty="0">
                <a:solidFill>
                  <a:srgbClr val="4285F4"/>
                </a:solidFill>
                <a:latin typeface="Karla"/>
                <a:ea typeface="Karla"/>
                <a:cs typeface="Karla"/>
              </a:rPr>
              <a:t>strona Urzędu</a:t>
            </a:r>
          </a:p>
        </p:txBody>
      </p:sp>
      <p:sp>
        <p:nvSpPr>
          <p:cNvPr id="316" name="Footer 316"/>
          <p:cNvSpPr/>
          <p:nvPr/>
        </p:nvSpPr>
        <p:spPr>
          <a:xfrm>
            <a:off x="495300" y="4533900"/>
            <a:ext cx="8153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Plik .md otworzysz w zwykłym Notatniku – to czysty tekst, bez ukrytego formatowania jak w Wordzie.</a:t>
            </a:r>
          </a:p>
        </p:txBody>
      </p:sp>
    </p:spTree>
    <p:extLst>
      <p:ext uri="{BB962C8B-B14F-4D97-AF65-F5344CB8AC3E}">
        <p14:creationId xmlns:p14="http://schemas.microsoft.com/office/powerpoint/2010/main" val="903293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 4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Czym jest plik CLAUDE.md?</a:t>
            </a:r>
          </a:p>
        </p:txBody>
      </p:sp>
      <p:sp>
        <p:nvSpPr>
          <p:cNvPr id="401" name="Subtitle 401"/>
          <p:cNvSpPr/>
          <p:nvPr/>
        </p:nvSpPr>
        <p:spPr>
          <a:xfrm>
            <a:off x="495300" y="9144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Plik Markdown, który Claude Code czyta na początku każdej pracy. To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stała instrukcja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 – nie trzeba za każdym razem tłumaczyć wszystkiego od nowa.</a:t>
            </a:r>
          </a:p>
        </p:txBody>
      </p:sp>
      <p:sp>
        <p:nvSpPr>
          <p:cNvPr id="402" name="FileTab 402"/>
          <p:cNvSpPr/>
          <p:nvPr/>
        </p:nvSpPr>
        <p:spPr>
          <a:xfrm>
            <a:off x="495300" y="1625600"/>
            <a:ext cx="3810000" cy="330200"/>
          </a:xfrm>
          <a:prstGeom prst="rect">
            <a:avLst/>
          </a:prstGeom>
          <a:solidFill>
            <a:srgbClr val="E8B4AE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>
              <a:buNone/>
            </a:pPr>
            <a:r>
              <a:rPr lang="pl-PL" sz="1200" b="1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CLAUDE.md</a:t>
            </a:r>
          </a:p>
        </p:txBody>
      </p:sp>
      <p:sp>
        <p:nvSpPr>
          <p:cNvPr id="403" name="FileBody 403"/>
          <p:cNvSpPr/>
          <p:nvPr/>
        </p:nvSpPr>
        <p:spPr>
          <a:xfrm>
            <a:off x="495300" y="1955800"/>
            <a:ext cx="3810000" cy="2489200"/>
          </a:xfrm>
          <a:prstGeom prst="rect">
            <a:avLst/>
          </a:prstGeom>
          <a:solidFill>
            <a:srgbClr val="FAD4CF"/>
          </a:solidFill>
          <a:ln>
            <a:noFill/>
          </a:ln>
        </p:spPr>
        <p:txBody>
          <a:bodyPr wrap="square" lIns="152400" tIns="152400" rIns="152400" bIns="127000" anchor="t">
            <a:noAutofit/>
          </a:bodyPr>
          <a:lstStyle/>
          <a:p>
            <a:pPr algn="l">
              <a:buNone/>
            </a:pPr>
            <a:r>
              <a:rPr lang="pl-PL" sz="1200" b="1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# Projekt: Budżet 2027</a:t>
            </a:r>
          </a:p>
          <a:p>
            <a:pPr algn="l">
              <a:buNone/>
            </a:pPr>
            <a:r>
              <a:rPr lang="pl-PL" sz="12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Zestawienia wydatków wydziałów.</a:t>
            </a:r>
          </a:p>
          <a:p>
            <a:pPr>
              <a:buNone/>
            </a:pPr>
            <a:endParaRPr lang="pl-PL" sz="800" dirty="0"/>
          </a:p>
          <a:p>
            <a:pPr algn="l">
              <a:buNone/>
            </a:pPr>
            <a:r>
              <a:rPr lang="pl-PL" sz="1200" b="1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## Zasady</a:t>
            </a:r>
          </a:p>
          <a:p>
            <a:pPr algn="l">
              <a:buNone/>
            </a:pPr>
            <a:r>
              <a:rPr lang="pl-PL" sz="12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- Pisz po polsku, językiem urzędowym</a:t>
            </a:r>
          </a:p>
          <a:p>
            <a:pPr algn="l">
              <a:buNone/>
            </a:pPr>
            <a:r>
              <a:rPr lang="pl-PL" sz="12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- Kwoty w zł, format 1 234,56</a:t>
            </a:r>
          </a:p>
          <a:p>
            <a:pPr algn="l">
              <a:buNone/>
            </a:pPr>
            <a:r>
              <a:rPr lang="pl-PL" sz="12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- Nie zmieniaj plików w /archiwum</a:t>
            </a:r>
          </a:p>
          <a:p>
            <a:pPr>
              <a:buNone/>
            </a:pPr>
            <a:endParaRPr lang="pl-PL" sz="800" dirty="0"/>
          </a:p>
          <a:p>
            <a:pPr algn="l">
              <a:buNone/>
            </a:pPr>
            <a:r>
              <a:rPr lang="pl-PL" sz="1200" b="1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## Polecenia</a:t>
            </a:r>
          </a:p>
          <a:p>
            <a:pPr algn="l">
              <a:buNone/>
            </a:pPr>
            <a:r>
              <a:rPr lang="pl-PL" sz="1200" dirty="0">
                <a:solidFill>
                  <a:srgbClr val="181818"/>
                </a:solidFill>
                <a:latin typeface="Consolas"/>
                <a:ea typeface="Consolas"/>
                <a:cs typeface="Consolas"/>
              </a:rPr>
              <a:t>- Raport: uruchom raport.py</a:t>
            </a:r>
          </a:p>
        </p:txBody>
      </p:sp>
      <p:sp>
        <p:nvSpPr>
          <p:cNvPr id="404" name="FileNote 404"/>
          <p:cNvSpPr/>
          <p:nvPr/>
        </p:nvSpPr>
        <p:spPr>
          <a:xfrm>
            <a:off x="495300" y="4470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l-PL" sz="11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Przykład fikcyjny</a:t>
            </a:r>
          </a:p>
        </p:txBody>
      </p:sp>
      <p:sp>
        <p:nvSpPr>
          <p:cNvPr id="405" name="Block 405"/>
          <p:cNvSpPr/>
          <p:nvPr/>
        </p:nvSpPr>
        <p:spPr>
          <a:xfrm>
            <a:off x="4610100" y="1625600"/>
            <a:ext cx="4038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Co w nim wpisać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Opis projektu, zasady pracy, styl i przydatne polecenia</a:t>
            </a:r>
          </a:p>
        </p:txBody>
      </p:sp>
      <p:sp>
        <p:nvSpPr>
          <p:cNvPr id="406" name="Block 406"/>
          <p:cNvSpPr/>
          <p:nvPr/>
        </p:nvSpPr>
        <p:spPr>
          <a:xfrm>
            <a:off x="4610100" y="2590800"/>
            <a:ext cx="4038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Gdzie go położyć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W folderze projektu – dla całego zespołu. W folderze użytkownika – tylko dla siebie</a:t>
            </a:r>
          </a:p>
        </p:txBody>
      </p:sp>
      <p:sp>
        <p:nvSpPr>
          <p:cNvPr id="407" name="Block 407"/>
          <p:cNvSpPr/>
          <p:nvPr/>
        </p:nvSpPr>
        <p:spPr>
          <a:xfrm>
            <a:off x="4610100" y="3556000"/>
            <a:ext cx="4038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Jak zacząć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Wpisz /init w Claude Code – Claude sam przygotuje pierwszą wersję pliku</a:t>
            </a:r>
          </a:p>
        </p:txBody>
      </p:sp>
      <p:sp>
        <p:nvSpPr>
          <p:cNvPr id="408" name="Footer 408"/>
          <p:cNvSpPr/>
          <p:nvPr/>
        </p:nvSpPr>
        <p:spPr>
          <a:xfrm>
            <a:off x="4610100" y="4445000"/>
            <a:ext cx="4038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W czacie claude.ai tę rolę pełnią instrukcje projektu (Projects).</a:t>
            </a:r>
          </a:p>
        </p:txBody>
      </p:sp>
    </p:spTree>
    <p:extLst>
      <p:ext uri="{BB962C8B-B14F-4D97-AF65-F5344CB8AC3E}">
        <p14:creationId xmlns:p14="http://schemas.microsoft.com/office/powerpoint/2010/main" val="2364943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 5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Projects – jedno miejsce na jeden temat</a:t>
            </a:r>
          </a:p>
        </p:txBody>
      </p:sp>
      <p:sp>
        <p:nvSpPr>
          <p:cNvPr id="501" name="Subtitle 501"/>
          <p:cNvSpPr/>
          <p:nvPr/>
        </p:nvSpPr>
        <p:spPr>
          <a:xfrm>
            <a:off x="495300" y="9144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Folder w Claude, w którym trzymasz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pliki, instrukcje i wszystkie rozmowy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 o jednej sprawie.</a:t>
            </a:r>
          </a:p>
        </p:txBody>
      </p:sp>
      <p:sp>
        <p:nvSpPr>
          <p:cNvPr id="502" name="Example 502"/>
          <p:cNvSpPr/>
          <p:nvPr/>
        </p:nvSpPr>
        <p:spPr>
          <a:xfrm>
            <a:off x="495300" y="1651000"/>
            <a:ext cx="3810000" cy="2489200"/>
          </a:xfrm>
          <a:prstGeom prst="roundRect">
            <a:avLst>
              <a:gd name="adj" fmla="val 6000"/>
            </a:avLst>
          </a:prstGeom>
          <a:solidFill>
            <a:srgbClr val="FAD4CF"/>
          </a:solidFill>
          <a:ln>
            <a:noFill/>
          </a:ln>
        </p:spPr>
        <p:txBody>
          <a:bodyPr wrap="square" lIns="228600" tIns="177800" rIns="228600" bIns="177800" anchor="ctr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l-PL" sz="1400" dirty="0">
                <a:solidFill>
                  <a:srgbClr val="595959"/>
                </a:solidFill>
                <a:latin typeface="Geologica SemiBold"/>
                <a:ea typeface="Geologica SemiBold"/>
                <a:cs typeface="Geologica SemiBold"/>
              </a:rPr>
              <a:t>Przykład w Urzędzie</a:t>
            </a:r>
          </a:p>
          <a:p>
            <a:pPr algn="l">
              <a:lnSpc>
                <a:spcPct val="12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Projekt „Budżet 2027”: wzory zestawień, słownik pojęć i instrukcja „kwoty w zł, język urzędowy”. Każda nowa rozmowa w projekcie zaczyna się od tej wiedzy.</a:t>
            </a:r>
          </a:p>
        </p:txBody>
      </p:sp>
      <p:sp>
        <p:nvSpPr>
          <p:cNvPr id="503" name="Point 503"/>
          <p:cNvSpPr/>
          <p:nvPr/>
        </p:nvSpPr>
        <p:spPr>
          <a:xfrm>
            <a:off x="4610100" y="16510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Pliki wiedzy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Dokumenty, które Claude zna w każdej rozmowie</a:t>
            </a:r>
          </a:p>
        </p:txBody>
      </p:sp>
      <p:sp>
        <p:nvSpPr>
          <p:cNvPr id="504" name="Point 504"/>
          <p:cNvSpPr/>
          <p:nvPr/>
        </p:nvSpPr>
        <p:spPr>
          <a:xfrm>
            <a:off x="4610100" y="25146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Instrukcje projektu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Stałe zasady, np. styl i język pism</a:t>
            </a:r>
          </a:p>
        </p:txBody>
      </p:sp>
      <p:sp>
        <p:nvSpPr>
          <p:cNvPr id="505" name="Point 505"/>
          <p:cNvSpPr/>
          <p:nvPr/>
        </p:nvSpPr>
        <p:spPr>
          <a:xfrm>
            <a:off x="4610100" y="33782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Wspólna praca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W planie Team projekt udostępnisz zespołowi</a:t>
            </a:r>
          </a:p>
        </p:txBody>
      </p:sp>
      <p:sp>
        <p:nvSpPr>
          <p:cNvPr id="506" name="Footer 506"/>
          <p:cNvSpPr/>
          <p:nvPr/>
        </p:nvSpPr>
        <p:spPr>
          <a:xfrm>
            <a:off x="495300" y="4445000"/>
            <a:ext cx="815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Wgrywaj tylko dokumenty, które wolno przetwarzać w Claude – do ćwiczeń używaj tekstu fikcyjnego.</a:t>
            </a:r>
          </a:p>
        </p:txBody>
      </p:sp>
    </p:spTree>
    <p:extLst>
      <p:ext uri="{BB962C8B-B14F-4D97-AF65-F5344CB8AC3E}">
        <p14:creationId xmlns:p14="http://schemas.microsoft.com/office/powerpoint/2010/main" val="4078481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 5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Artifacts – gotowy dokument obok rozmowy</a:t>
            </a:r>
          </a:p>
        </p:txBody>
      </p:sp>
      <p:sp>
        <p:nvSpPr>
          <p:cNvPr id="501" name="Subtitle 501"/>
          <p:cNvSpPr/>
          <p:nvPr/>
        </p:nvSpPr>
        <p:spPr>
          <a:xfrm>
            <a:off x="495300" y="9144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Gdy Claude tworzy coś większego –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pismo, tabelę, wykres lub prostą aplikację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 – pokazuje to w osobnym oknie obok czatu.</a:t>
            </a:r>
          </a:p>
        </p:txBody>
      </p:sp>
      <p:sp>
        <p:nvSpPr>
          <p:cNvPr id="502" name="Example 502"/>
          <p:cNvSpPr/>
          <p:nvPr/>
        </p:nvSpPr>
        <p:spPr>
          <a:xfrm>
            <a:off x="495300" y="1651000"/>
            <a:ext cx="3810000" cy="2489200"/>
          </a:xfrm>
          <a:prstGeom prst="roundRect">
            <a:avLst>
              <a:gd name="adj" fmla="val 6000"/>
            </a:avLst>
          </a:prstGeom>
          <a:solidFill>
            <a:srgbClr val="FAD4CF"/>
          </a:solidFill>
          <a:ln>
            <a:noFill/>
          </a:ln>
        </p:spPr>
        <p:txBody>
          <a:bodyPr wrap="square" lIns="228600" tIns="177800" rIns="228600" bIns="177800" anchor="ctr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l-PL" sz="1400" dirty="0">
                <a:solidFill>
                  <a:srgbClr val="595959"/>
                </a:solidFill>
                <a:latin typeface="Geologica SemiBold"/>
                <a:ea typeface="Geologica SemiBold"/>
                <a:cs typeface="Geologica SemiBold"/>
              </a:rPr>
              <a:t>Przykład w Urzędzie</a:t>
            </a:r>
          </a:p>
          <a:p>
            <a:pPr algn="l">
              <a:lnSpc>
                <a:spcPct val="12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„Przygotuj tabelę porównującą trzy oferty na dostawę papieru biurowego.” Tabela pojawia się jako artefakt, gotowa do poprawek i skopiowania do Worda.</a:t>
            </a:r>
          </a:p>
        </p:txBody>
      </p:sp>
      <p:sp>
        <p:nvSpPr>
          <p:cNvPr id="503" name="Point 503"/>
          <p:cNvSpPr/>
          <p:nvPr/>
        </p:nvSpPr>
        <p:spPr>
          <a:xfrm>
            <a:off x="4610100" y="16510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Poprawki prośbą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Piszesz, co zmienić – Claude aktualizuje całość</a:t>
            </a:r>
          </a:p>
        </p:txBody>
      </p:sp>
      <p:sp>
        <p:nvSpPr>
          <p:cNvPr id="504" name="Point 504"/>
          <p:cNvSpPr/>
          <p:nvPr/>
        </p:nvSpPr>
        <p:spPr>
          <a:xfrm>
            <a:off x="4610100" y="25146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Historia wersji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Możesz wrócić do każdej wcześniejszej wersji</a:t>
            </a:r>
          </a:p>
        </p:txBody>
      </p:sp>
      <p:sp>
        <p:nvSpPr>
          <p:cNvPr id="505" name="Point 505"/>
          <p:cNvSpPr/>
          <p:nvPr/>
        </p:nvSpPr>
        <p:spPr>
          <a:xfrm>
            <a:off x="4610100" y="33782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Kopiowanie i pobieranie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Gotowy tekst przeniesiesz do Worda lub maila</a:t>
            </a:r>
          </a:p>
        </p:txBody>
      </p:sp>
      <p:sp>
        <p:nvSpPr>
          <p:cNvPr id="506" name="Footer 506"/>
          <p:cNvSpPr/>
          <p:nvPr/>
        </p:nvSpPr>
        <p:spPr>
          <a:xfrm>
            <a:off x="495300" y="4445000"/>
            <a:ext cx="815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Artefakt to wynik rozmowy – przed wysłaniem zawsze go przeczytaj i sprawdź.</a:t>
            </a:r>
          </a:p>
        </p:txBody>
      </p:sp>
    </p:spTree>
    <p:extLst>
      <p:ext uri="{BB962C8B-B14F-4D97-AF65-F5344CB8AC3E}">
        <p14:creationId xmlns:p14="http://schemas.microsoft.com/office/powerpoint/2010/main" val="3164181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 5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Scheduled – zadania wykonywane o stałej porze</a:t>
            </a:r>
          </a:p>
        </p:txBody>
      </p:sp>
      <p:sp>
        <p:nvSpPr>
          <p:cNvPr id="501" name="Subtitle 501"/>
          <p:cNvSpPr/>
          <p:nvPr/>
        </p:nvSpPr>
        <p:spPr>
          <a:xfrm>
            <a:off x="495300" y="9144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Ustawiasz polecenie i harmonogram, a Claude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sam uruchamia je codziennie, co tydzień lub o wybranej godzinie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.</a:t>
            </a:r>
          </a:p>
        </p:txBody>
      </p:sp>
      <p:sp>
        <p:nvSpPr>
          <p:cNvPr id="502" name="Example 502"/>
          <p:cNvSpPr/>
          <p:nvPr/>
        </p:nvSpPr>
        <p:spPr>
          <a:xfrm>
            <a:off x="495300" y="1651000"/>
            <a:ext cx="3810000" cy="2489200"/>
          </a:xfrm>
          <a:prstGeom prst="roundRect">
            <a:avLst>
              <a:gd name="adj" fmla="val 6000"/>
            </a:avLst>
          </a:prstGeom>
          <a:solidFill>
            <a:srgbClr val="FAD4CF"/>
          </a:solidFill>
          <a:ln>
            <a:noFill/>
          </a:ln>
        </p:spPr>
        <p:txBody>
          <a:bodyPr wrap="square" lIns="228600" tIns="177800" rIns="228600" bIns="177800" anchor="ctr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l-PL" sz="1400" dirty="0">
                <a:solidFill>
                  <a:srgbClr val="595959"/>
                </a:solidFill>
                <a:latin typeface="Geologica SemiBold"/>
                <a:ea typeface="Geologica SemiBold"/>
                <a:cs typeface="Geologica SemiBold"/>
              </a:rPr>
              <a:t>Przykład w Urzędzie</a:t>
            </a:r>
          </a:p>
          <a:p>
            <a:pPr algn="l">
              <a:lnSpc>
                <a:spcPct val="12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W każdy poniedziałek o 8:00: „Podsumuj moje spotkania z kalendarza na ten tydzień i wypisz dokumenty, które trzeba na nie przygotować.”</a:t>
            </a:r>
          </a:p>
        </p:txBody>
      </p:sp>
      <p:sp>
        <p:nvSpPr>
          <p:cNvPr id="503" name="Point 503"/>
          <p:cNvSpPr/>
          <p:nvPr/>
        </p:nvSpPr>
        <p:spPr>
          <a:xfrm>
            <a:off x="4610100" y="16510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Raz ustawione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Działa samo, bez przypominania</a:t>
            </a:r>
          </a:p>
        </p:txBody>
      </p:sp>
      <p:sp>
        <p:nvSpPr>
          <p:cNvPr id="504" name="Point 504"/>
          <p:cNvSpPr/>
          <p:nvPr/>
        </p:nvSpPr>
        <p:spPr>
          <a:xfrm>
            <a:off x="4610100" y="25146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Z connectorami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Może sięgać np. do kalendarza lub poczty</a:t>
            </a:r>
          </a:p>
        </p:txBody>
      </p:sp>
      <p:sp>
        <p:nvSpPr>
          <p:cNvPr id="505" name="Point 505"/>
          <p:cNvSpPr/>
          <p:nvPr/>
        </p:nvSpPr>
        <p:spPr>
          <a:xfrm>
            <a:off x="4610100" y="33782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Wynik czeka w Claude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Gotowe podsumowanie otwierasz, kiedy chcesz</a:t>
            </a:r>
          </a:p>
        </p:txBody>
      </p:sp>
      <p:sp>
        <p:nvSpPr>
          <p:cNvPr id="506" name="Footer 506"/>
          <p:cNvSpPr/>
          <p:nvPr/>
        </p:nvSpPr>
        <p:spPr>
          <a:xfrm>
            <a:off x="495300" y="4445000"/>
            <a:ext cx="815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Zacznij od prostych, powtarzalnych zadań – i sprawdzaj pierwsze wyniki, zanim na nich polegasz.</a:t>
            </a:r>
          </a:p>
        </p:txBody>
      </p:sp>
    </p:spTree>
    <p:extLst>
      <p:ext uri="{BB962C8B-B14F-4D97-AF65-F5344CB8AC3E}">
        <p14:creationId xmlns:p14="http://schemas.microsoft.com/office/powerpoint/2010/main" val="947970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 5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Customize – Claude dopasowany do Ciebie</a:t>
            </a:r>
          </a:p>
        </p:txBody>
      </p:sp>
      <p:sp>
        <p:nvSpPr>
          <p:cNvPr id="501" name="Subtitle 501"/>
          <p:cNvSpPr/>
          <p:nvPr/>
        </p:nvSpPr>
        <p:spPr>
          <a:xfrm>
            <a:off x="495300" y="9144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Miejsce, w którym ustawiasz, jak Claude ma działać: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preferencje, style, skille i connectory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.</a:t>
            </a:r>
          </a:p>
        </p:txBody>
      </p:sp>
      <p:sp>
        <p:nvSpPr>
          <p:cNvPr id="502" name="Example 502"/>
          <p:cNvSpPr/>
          <p:nvPr/>
        </p:nvSpPr>
        <p:spPr>
          <a:xfrm>
            <a:off x="495300" y="1651000"/>
            <a:ext cx="3810000" cy="2489200"/>
          </a:xfrm>
          <a:prstGeom prst="roundRect">
            <a:avLst>
              <a:gd name="adj" fmla="val 6000"/>
            </a:avLst>
          </a:prstGeom>
          <a:solidFill>
            <a:srgbClr val="FAD4CF"/>
          </a:solidFill>
          <a:ln>
            <a:noFill/>
          </a:ln>
        </p:spPr>
        <p:txBody>
          <a:bodyPr wrap="square" lIns="228600" tIns="177800" rIns="228600" bIns="177800" anchor="ctr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l-PL" sz="1400" dirty="0">
                <a:solidFill>
                  <a:srgbClr val="595959"/>
                </a:solidFill>
                <a:latin typeface="Geologica SemiBold"/>
                <a:ea typeface="Geologica SemiBold"/>
                <a:cs typeface="Geologica SemiBold"/>
              </a:rPr>
              <a:t>Przykład w Urzędzie</a:t>
            </a:r>
          </a:p>
          <a:p>
            <a:pPr algn="l">
              <a:lnSpc>
                <a:spcPct val="12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Preferencja: „Pracuję w Wydziale Finansów. Odpowiadaj po polsku, zwięźle i w języku urzędowym. Kwoty podawaj w zł.”</a:t>
            </a:r>
          </a:p>
        </p:txBody>
      </p:sp>
      <p:sp>
        <p:nvSpPr>
          <p:cNvPr id="503" name="Point 503"/>
          <p:cNvSpPr/>
          <p:nvPr/>
        </p:nvSpPr>
        <p:spPr>
          <a:xfrm>
            <a:off x="4610100" y="16510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Preferencje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Kim jesteś i jak Claude ma odpowiadać</a:t>
            </a:r>
          </a:p>
        </p:txBody>
      </p:sp>
      <p:sp>
        <p:nvSpPr>
          <p:cNvPr id="504" name="Point 504"/>
          <p:cNvSpPr/>
          <p:nvPr/>
        </p:nvSpPr>
        <p:spPr>
          <a:xfrm>
            <a:off x="4610100" y="25146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Style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Np. krótko i formalnie albo szczegółowo</a:t>
            </a:r>
          </a:p>
        </p:txBody>
      </p:sp>
      <p:sp>
        <p:nvSpPr>
          <p:cNvPr id="505" name="Point 505"/>
          <p:cNvSpPr/>
          <p:nvPr/>
        </p:nvSpPr>
        <p:spPr>
          <a:xfrm>
            <a:off x="4610100" y="33782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Skille i connectory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Nowe umiejętności i dostęp do aplikacji</a:t>
            </a:r>
          </a:p>
        </p:txBody>
      </p:sp>
      <p:sp>
        <p:nvSpPr>
          <p:cNvPr id="506" name="Footer 506"/>
          <p:cNvSpPr/>
          <p:nvPr/>
        </p:nvSpPr>
        <p:spPr>
          <a:xfrm>
            <a:off x="495300" y="4445000"/>
            <a:ext cx="815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Ustawienia działają we wszystkich rozmowach – nie trzeba ich powtarzać za każdym razem.</a:t>
            </a:r>
          </a:p>
        </p:txBody>
      </p:sp>
    </p:spTree>
    <p:extLst>
      <p:ext uri="{BB962C8B-B14F-4D97-AF65-F5344CB8AC3E}">
        <p14:creationId xmlns:p14="http://schemas.microsoft.com/office/powerpoint/2010/main" val="4078152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 5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Claude Design – grafiki i slajdy z opisu</a:t>
            </a:r>
          </a:p>
        </p:txBody>
      </p:sp>
      <p:sp>
        <p:nvSpPr>
          <p:cNvPr id="501" name="Subtitle 501"/>
          <p:cNvSpPr/>
          <p:nvPr/>
        </p:nvSpPr>
        <p:spPr>
          <a:xfrm>
            <a:off x="495300" y="9144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Opisujesz, czego potrzebujesz, a Claude tworzy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pierwszą wersję projektu wizualnego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, którą dalej poprawiasz.</a:t>
            </a:r>
          </a:p>
        </p:txBody>
      </p:sp>
      <p:sp>
        <p:nvSpPr>
          <p:cNvPr id="502" name="Example 502"/>
          <p:cNvSpPr/>
          <p:nvPr/>
        </p:nvSpPr>
        <p:spPr>
          <a:xfrm>
            <a:off x="495300" y="1651000"/>
            <a:ext cx="3810000" cy="2489200"/>
          </a:xfrm>
          <a:prstGeom prst="roundRect">
            <a:avLst>
              <a:gd name="adj" fmla="val 6000"/>
            </a:avLst>
          </a:prstGeom>
          <a:solidFill>
            <a:srgbClr val="FAD4CF"/>
          </a:solidFill>
          <a:ln>
            <a:noFill/>
          </a:ln>
        </p:spPr>
        <p:txBody>
          <a:bodyPr wrap="square" lIns="228600" tIns="177800" rIns="228600" bIns="177800" anchor="ctr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l-PL" sz="1400" dirty="0">
                <a:solidFill>
                  <a:srgbClr val="595959"/>
                </a:solidFill>
                <a:latin typeface="Geologica SemiBold"/>
                <a:ea typeface="Geologica SemiBold"/>
                <a:cs typeface="Geologica SemiBold"/>
              </a:rPr>
              <a:t>Przykład w Urzędzie</a:t>
            </a:r>
          </a:p>
          <a:p>
            <a:pPr algn="l">
              <a:lnSpc>
                <a:spcPct val="12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„Przygotuj jednostronicową ulotkę o konsultacjach budżetu obywatelskiego, w kolorach miasta, z datą i miejscem spotkania.”</a:t>
            </a:r>
          </a:p>
        </p:txBody>
      </p:sp>
      <p:sp>
        <p:nvSpPr>
          <p:cNvPr id="503" name="Point 503"/>
          <p:cNvSpPr/>
          <p:nvPr/>
        </p:nvSpPr>
        <p:spPr>
          <a:xfrm>
            <a:off x="4610100" y="16510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Co stworzysz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Slajdy, ulotki, jednostronicowe podsumowania</a:t>
            </a:r>
          </a:p>
        </p:txBody>
      </p:sp>
      <p:sp>
        <p:nvSpPr>
          <p:cNvPr id="504" name="Point 504"/>
          <p:cNvSpPr/>
          <p:nvPr/>
        </p:nvSpPr>
        <p:spPr>
          <a:xfrm>
            <a:off x="4610100" y="25146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Jak poprawiasz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Komentarzem lub bezpośrednią edycją</a:t>
            </a:r>
          </a:p>
        </p:txBody>
      </p:sp>
      <p:sp>
        <p:nvSpPr>
          <p:cNvPr id="505" name="Point 505"/>
          <p:cNvSpPr/>
          <p:nvPr/>
        </p:nvSpPr>
        <p:spPr>
          <a:xfrm>
            <a:off x="4610100" y="3378200"/>
            <a:ext cx="419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l-PL" sz="16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Jak zapiszesz</a:t>
            </a:r>
          </a:p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Eksport do PDF, PPTX lub Canvy</a:t>
            </a:r>
          </a:p>
        </p:txBody>
      </p:sp>
      <p:sp>
        <p:nvSpPr>
          <p:cNvPr id="506" name="Footer 506"/>
          <p:cNvSpPr/>
          <p:nvPr/>
        </p:nvSpPr>
        <p:spPr>
          <a:xfrm>
            <a:off x="495300" y="4445000"/>
            <a:ext cx="815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Wersja testowa (research preview) dla planów Pro, Max, Team i Enterprise.</a:t>
            </a:r>
          </a:p>
        </p:txBody>
      </p:sp>
    </p:spTree>
    <p:extLst>
      <p:ext uri="{BB962C8B-B14F-4D97-AF65-F5344CB8AC3E}">
        <p14:creationId xmlns:p14="http://schemas.microsoft.com/office/powerpoint/2010/main" val="745387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4C66EFC-1E65-20F3-1687-426373343B9C}"/>
              </a:ext>
            </a:extLst>
          </p:cNvPr>
          <p:cNvSpPr/>
          <p:nvPr/>
        </p:nvSpPr>
        <p:spPr>
          <a:xfrm>
            <a:off x="430805" y="170355"/>
            <a:ext cx="5289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Claude </a:t>
            </a:r>
            <a:r>
              <a:rPr lang="en-US" sz="2781" dirty="0" err="1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Asystent</a:t>
            </a:r>
            <a:endParaRPr lang="en-US" sz="2781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73F7FD-8B1E-FFF7-71D9-DBE20FC7D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43" y="729942"/>
            <a:ext cx="5954485" cy="40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13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 600"/>
          <p:cNvSpPr txBox="1"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Tryby uprawnień w Claude Code</a:t>
            </a:r>
          </a:p>
        </p:txBody>
      </p:sp>
      <p:sp>
        <p:nvSpPr>
          <p:cNvPr id="601" name="Text 601"/>
          <p:cNvSpPr txBox="1"/>
          <p:nvPr/>
        </p:nvSpPr>
        <p:spPr>
          <a:xfrm>
            <a:off x="495300" y="863600"/>
            <a:ext cx="8153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„Mode” w Claude Code zwykle oznacza tryb uprawnień (permission mode). Tryb decyduje,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na co Claude może sobie pozwolić bez pytania Cię o zgodę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.</a:t>
            </a:r>
          </a:p>
        </p:txBody>
      </p:sp>
      <p:graphicFrame>
        <p:nvGraphicFramePr>
          <p:cNvPr id="602" name="Mod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805498"/>
              </p:ext>
            </p:extLst>
          </p:nvPr>
        </p:nvGraphicFramePr>
        <p:xfrm>
          <a:off x="495300" y="1447800"/>
          <a:ext cx="8153400" cy="315468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solidFill>
                            <a:srgbClr val="595959"/>
                          </a:solidFill>
                          <a:latin typeface="Geologica SemiBold"/>
                          <a:ea typeface="Geologica SemiBold"/>
                          <a:cs typeface="Geologica SemiBold"/>
                        </a:rPr>
                        <a:t>Tryb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8181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solidFill>
                            <a:srgbClr val="595959"/>
                          </a:solidFill>
                          <a:latin typeface="Geologica SemiBold"/>
                          <a:ea typeface="Geologica SemiBold"/>
                          <a:cs typeface="Geologica SemiBold"/>
                        </a:rPr>
                        <a:t>Co robi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8181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solidFill>
                            <a:srgbClr val="595959"/>
                          </a:solidFill>
                          <a:latin typeface="Geologica SemiBold"/>
                          <a:ea typeface="Geologica SemiBold"/>
                          <a:cs typeface="Geologica SemiBold"/>
                        </a:rPr>
                        <a:t>Kiedy go używać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8181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Default (Ask)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18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Pyta o zgodę przy każdej edycji pliku i przy każdej komendzie, która nie jest na liście dozwolonych.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18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Na start, przy nieznanym kodzie, gdy chcesz mieć pełną kontrolę.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18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Accept Edits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Sam edytuje i tworzy pliki. Nadal pyta przed uruchomieniem komend w shellu.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Gdy ufasz kierunkowi zmian i chcesz tylko przejrzeć diff na końcu.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Plan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Tylko czyta i analizuje. Niczego nie zmienia, tylko przygotowuje plan do Twojej akceptacji. Po akceptacji przechodzi do wykonania.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Przy większych zmianach, gdy chcesz najpierw uzgodnić podejście.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Auto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Działa samodzielnie i nie pyta o rutynowe rzeczy. Klasyfikator bezpieczeństwa blokuje ryzykowne akcje, np. destrukcyjne komendy albo wysyłanie danych na zewnątrz.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Przy dłuższej, autonomicznej pracy z zachowaniem zabezpieczeń.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Bypass Permissions</a:t>
                      </a:r>
                    </a:p>
                    <a:p>
                      <a:pPr algn="l">
                        <a:buNone/>
                      </a:pPr>
                      <a:r>
                        <a:rPr lang="pl-PL" sz="90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--dangerously-skip-permissions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solidFill>
                      <a:srgbClr val="FAD4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Wyłącza wszystkie pytania o zgodę.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solidFill>
                      <a:srgbClr val="FAD4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100" b="1" dirty="0">
                          <a:solidFill>
                            <a:srgbClr val="181818"/>
                          </a:solidFill>
                          <a:latin typeface="Karla"/>
                          <a:ea typeface="Karla"/>
                          <a:cs typeface="Karla"/>
                        </a:rPr>
                        <a:t>Tylko w izolowanym środowisku (kontener, VM, sandbox). Nigdy na głównej maszynie.</a:t>
                      </a: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D6D2"/>
                      </a:solidFill>
                    </a:lnB>
                    <a:solidFill>
                      <a:srgbClr val="FAD4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458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Title 7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Bazy wiedzy w Claude</a:t>
            </a:r>
          </a:p>
        </p:txBody>
      </p:sp>
      <p:sp>
        <p:nvSpPr>
          <p:cNvPr id="701" name="Subtitle 701"/>
          <p:cNvSpPr/>
          <p:nvPr/>
        </p:nvSpPr>
        <p:spPr>
          <a:xfrm>
            <a:off x="495300" y="10414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Model nie zna dokumentów Urzędu. Wiedzę dostarczasz mu sam</a:t>
            </a:r>
          </a:p>
        </p:txBody>
      </p:sp>
      <p:sp>
        <p:nvSpPr>
          <p:cNvPr id="702" name="Card 702"/>
          <p:cNvSpPr/>
          <p:nvPr/>
        </p:nvSpPr>
        <p:spPr>
          <a:xfrm>
            <a:off x="495300" y="1778000"/>
            <a:ext cx="4000500" cy="803729"/>
          </a:xfrm>
          <a:prstGeom prst="roundRect">
            <a:avLst>
              <a:gd name="adj" fmla="val 7000"/>
            </a:avLst>
          </a:prstGeom>
          <a:solidFill>
            <a:srgbClr val="FAD4CF"/>
          </a:solidFill>
          <a:ln>
            <a:noFill/>
          </a:ln>
        </p:spPr>
        <p:txBody>
          <a:bodyPr wrap="square" lIns="736600" tIns="152400" rIns="177800" bIns="12700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500" dirty="0" err="1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Zaawansowane</a:t>
            </a:r>
            <a:r>
              <a:rPr lang="en-US" sz="15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 </a:t>
            </a:r>
            <a:r>
              <a:rPr lang="en-US" sz="1500" dirty="0" err="1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pliki</a:t>
            </a:r>
            <a:r>
              <a:rPr lang="en-US" sz="15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 MD</a:t>
            </a:r>
            <a:endParaRPr lang="pl-PL" sz="1500" dirty="0">
              <a:solidFill>
                <a:srgbClr val="181818"/>
              </a:solidFill>
              <a:latin typeface="Geologica SemiBold"/>
              <a:ea typeface="Geologica SemiBold"/>
              <a:cs typeface="Geologica SemiBold"/>
            </a:endParaRPr>
          </a:p>
        </p:txBody>
      </p:sp>
      <p:sp>
        <p:nvSpPr>
          <p:cNvPr id="703" name="Card 703"/>
          <p:cNvSpPr/>
          <p:nvPr/>
        </p:nvSpPr>
        <p:spPr>
          <a:xfrm>
            <a:off x="4648200" y="1778000"/>
            <a:ext cx="4000500" cy="803729"/>
          </a:xfrm>
          <a:prstGeom prst="roundRect">
            <a:avLst>
              <a:gd name="adj" fmla="val 7000"/>
            </a:avLst>
          </a:prstGeom>
          <a:solidFill>
            <a:srgbClr val="FAD4CF"/>
          </a:solidFill>
          <a:ln>
            <a:noFill/>
          </a:ln>
        </p:spPr>
        <p:txBody>
          <a:bodyPr wrap="square" lIns="736600" tIns="152400" rIns="177800" bIns="12700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500" dirty="0" err="1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Prosto</a:t>
            </a:r>
            <a:r>
              <a:rPr lang="en-US" sz="15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 </a:t>
            </a:r>
            <a:r>
              <a:rPr lang="en-US" sz="1500" dirty="0" err="1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projekty</a:t>
            </a:r>
            <a:endParaRPr lang="pl-PL" sz="1500" dirty="0">
              <a:solidFill>
                <a:srgbClr val="181818"/>
              </a:solidFill>
              <a:latin typeface="Geologica SemiBold"/>
              <a:ea typeface="Geologica SemiBold"/>
              <a:cs typeface="Geologica SemiBold"/>
            </a:endParaRPr>
          </a:p>
        </p:txBody>
      </p:sp>
      <p:pic>
        <p:nvPicPr>
          <p:cNvPr id="707" name="Graphic 707" descr="Pliki w rozmowi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955800"/>
            <a:ext cx="381000" cy="381000"/>
          </a:xfrm>
          <a:prstGeom prst="rect">
            <a:avLst/>
          </a:prstGeom>
        </p:spPr>
      </p:pic>
      <p:pic>
        <p:nvPicPr>
          <p:cNvPr id="708" name="Graphic 708" descr="Wiedza projektu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400" y="19558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47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Title 800"/>
          <p:cNvSpPr/>
          <p:nvPr/>
        </p:nvSpPr>
        <p:spPr>
          <a:xfrm>
            <a:off x="495300" y="3937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/>
                <a:cs typeface="Geologica Semi Bold"/>
              </a:rPr>
              <a:t>Dwie przeglądarki, jeden Cowork</a:t>
            </a:r>
          </a:p>
        </p:txBody>
      </p:sp>
      <p:sp>
        <p:nvSpPr>
          <p:cNvPr id="801" name="Subtitle 801"/>
          <p:cNvSpPr/>
          <p:nvPr/>
        </p:nvSpPr>
        <p:spPr>
          <a:xfrm>
            <a:off x="495300" y="914400"/>
            <a:ext cx="8153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Cowork nie ma własnych „oczu” w internecie – używa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jednej z dwóch przeglądarek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:</a:t>
            </a:r>
          </a:p>
        </p:txBody>
      </p:sp>
      <p:sp>
        <p:nvSpPr>
          <p:cNvPr id="802" name="Card 802"/>
          <p:cNvSpPr/>
          <p:nvPr/>
        </p:nvSpPr>
        <p:spPr>
          <a:xfrm>
            <a:off x="495300" y="1371600"/>
            <a:ext cx="4000500" cy="172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81818"/>
            </a:solidFill>
          </a:ln>
        </p:spPr>
        <p:txBody>
          <a:bodyPr wrap="square" lIns="203200" tIns="177800" rIns="203200" bIns="152400" anchor="t">
            <a:noAutofit/>
          </a:bodyPr>
          <a:lstStyle/>
          <a:p>
            <a:pPr algn="l">
              <a:buNone/>
            </a:pPr>
            <a:r>
              <a:rPr lang="pl-PL" sz="18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Built-in browser</a:t>
            </a:r>
          </a:p>
          <a:p>
            <a:pPr algn="l">
              <a:spcAft>
                <a:spcPts val="600"/>
              </a:spcAft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przeglądarka wbudowana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Izolowana, bez Twoich loginów.</a:t>
            </a:r>
          </a:p>
        </p:txBody>
      </p:sp>
      <p:sp>
        <p:nvSpPr>
          <p:cNvPr id="803" name="Card 803"/>
          <p:cNvSpPr/>
          <p:nvPr/>
        </p:nvSpPr>
        <p:spPr>
          <a:xfrm>
            <a:off x="4648200" y="1371600"/>
            <a:ext cx="4000500" cy="172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8B4AE"/>
            </a:solidFill>
          </a:ln>
        </p:spPr>
        <p:txBody>
          <a:bodyPr wrap="square" lIns="203200" tIns="177800" rIns="203200" bIns="152400" anchor="t">
            <a:noAutofit/>
          </a:bodyPr>
          <a:lstStyle/>
          <a:p>
            <a:pPr algn="l">
              <a:buNone/>
            </a:pPr>
            <a:r>
              <a:rPr lang="pl-PL" sz="18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Chrome</a:t>
            </a:r>
          </a:p>
          <a:p>
            <a:pPr algn="l">
              <a:spcAft>
                <a:spcPts val="600"/>
              </a:spcAft>
              <a:buNone/>
            </a:pPr>
            <a:r>
              <a:rPr lang="pl-PL" sz="1200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Claude in Chrome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Twoja prawdziwa przeglądarka, z Twoimi kontami.</a:t>
            </a:r>
          </a:p>
        </p:txBody>
      </p:sp>
      <p:sp>
        <p:nvSpPr>
          <p:cNvPr id="804" name="Info 804"/>
          <p:cNvSpPr/>
          <p:nvPr/>
        </p:nvSpPr>
        <p:spPr>
          <a:xfrm>
            <a:off x="495300" y="3416300"/>
            <a:ext cx="8153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Gdzie wybrać: 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Ustawienia → Cowork → </a:t>
            </a:r>
            <a:r>
              <a:rPr lang="pl-PL" sz="1400" dirty="0" err="1">
                <a:solidFill>
                  <a:srgbClr val="181818"/>
                </a:solidFill>
                <a:latin typeface="Karla"/>
                <a:ea typeface="Karla"/>
                <a:cs typeface="Karla"/>
              </a:rPr>
              <a:t>Preferred</a:t>
            </a:r>
            <a:r>
              <a:rPr lang="pl-PL" sz="1400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 </a:t>
            </a:r>
            <a:r>
              <a:rPr lang="pl-PL" sz="1400" dirty="0" err="1">
                <a:solidFill>
                  <a:srgbClr val="181818"/>
                </a:solidFill>
                <a:latin typeface="Karla"/>
                <a:ea typeface="Karla"/>
                <a:cs typeface="Karla"/>
              </a:rPr>
              <a:t>browser</a:t>
            </a:r>
            <a:endParaRPr lang="pl-PL" sz="1400" dirty="0">
              <a:solidFill>
                <a:srgbClr val="181818"/>
              </a:solidFill>
              <a:latin typeface="Karla"/>
              <a:ea typeface="Karla"/>
              <a:cs typeface="Karla"/>
            </a:endParaRPr>
          </a:p>
        </p:txBody>
      </p:sp>
      <p:sp>
        <p:nvSpPr>
          <p:cNvPr id="805" name="Rule 805"/>
          <p:cNvSpPr/>
          <p:nvPr/>
        </p:nvSpPr>
        <p:spPr>
          <a:xfrm>
            <a:off x="495300" y="4064000"/>
            <a:ext cx="8153400" cy="609600"/>
          </a:xfrm>
          <a:prstGeom prst="roundRect">
            <a:avLst>
              <a:gd name="adj" fmla="val 12000"/>
            </a:avLst>
          </a:prstGeom>
          <a:solidFill>
            <a:srgbClr val="FAD4CF"/>
          </a:solidFill>
          <a:ln>
            <a:noFill/>
          </a:ln>
        </p:spPr>
        <p:txBody>
          <a:bodyPr wrap="square" lIns="203200" tIns="101600" rIns="203200" bIns="101600" anchor="ctr">
            <a:no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181818"/>
                </a:solidFill>
                <a:latin typeface="Geologica SemiBold"/>
                <a:ea typeface="Geologica SemiBold"/>
                <a:cs typeface="Geologica SemiBold"/>
              </a:rPr>
              <a:t>Zasada bezpieczeństwa </a:t>
            </a:r>
            <a:r>
              <a:rPr lang="pl-PL" sz="1400" b="1" dirty="0">
                <a:solidFill>
                  <a:srgbClr val="181818"/>
                </a:solidFill>
                <a:latin typeface="Karla"/>
                <a:ea typeface="Karla"/>
                <a:cs typeface="Karla"/>
              </a:rPr>
              <a:t>tylko publiczne strony, nigdy systemy służbowe.</a:t>
            </a:r>
          </a:p>
        </p:txBody>
      </p:sp>
      <p:sp>
        <p:nvSpPr>
          <p:cNvPr id="850" name="Tag 850"/>
          <p:cNvSpPr/>
          <p:nvPr/>
        </p:nvSpPr>
        <p:spPr>
          <a:xfrm>
            <a:off x="736600" y="2717800"/>
            <a:ext cx="359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lang="pl-PL" sz="1200" b="1" dirty="0">
                <a:solidFill>
                  <a:srgbClr val="595959"/>
                </a:solidFill>
                <a:latin typeface="Karla"/>
                <a:ea typeface="Karla"/>
                <a:cs typeface="Karla"/>
              </a:rPr>
              <a:t>Zalecana na start</a:t>
            </a:r>
          </a:p>
        </p:txBody>
      </p:sp>
      <p:sp>
        <p:nvSpPr>
          <p:cNvPr id="851" name="Tag 851"/>
          <p:cNvSpPr/>
          <p:nvPr/>
        </p:nvSpPr>
        <p:spPr>
          <a:xfrm>
            <a:off x="4889500" y="2717800"/>
            <a:ext cx="359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endParaRPr lang="pl-PL" sz="1200" b="1" dirty="0">
              <a:solidFill>
                <a:srgbClr val="595959"/>
              </a:solidFill>
              <a:latin typeface="Karla"/>
              <a:ea typeface="Karla"/>
              <a:cs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2327780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7A741B-83B9-F8BA-723B-9FF4169CD9AB}"/>
              </a:ext>
            </a:extLst>
          </p:cNvPr>
          <p:cNvSpPr/>
          <p:nvPr/>
        </p:nvSpPr>
        <p:spPr>
          <a:xfrm>
            <a:off x="2652243" y="1488080"/>
            <a:ext cx="38395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Excel time!</a:t>
            </a:r>
          </a:p>
        </p:txBody>
      </p:sp>
    </p:spTree>
    <p:extLst>
      <p:ext uri="{BB962C8B-B14F-4D97-AF65-F5344CB8AC3E}">
        <p14:creationId xmlns:p14="http://schemas.microsoft.com/office/powerpoint/2010/main" val="522594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2B0A2-9B07-F0A9-4DA9-7F6F29C6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60F284-FD13-6270-2AE8-26C444990B69}"/>
              </a:ext>
            </a:extLst>
          </p:cNvPr>
          <p:cNvSpPr/>
          <p:nvPr/>
        </p:nvSpPr>
        <p:spPr>
          <a:xfrm>
            <a:off x="2382938" y="1567825"/>
            <a:ext cx="43781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Project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time!</a:t>
            </a:r>
          </a:p>
        </p:txBody>
      </p:sp>
    </p:spTree>
    <p:extLst>
      <p:ext uri="{BB962C8B-B14F-4D97-AF65-F5344CB8AC3E}">
        <p14:creationId xmlns:p14="http://schemas.microsoft.com/office/powerpoint/2010/main" val="873416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3776-2B9F-BFE3-0B36-32F01020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CC3B97-94CB-CFF7-EFBD-67EF17D131EE}"/>
              </a:ext>
            </a:extLst>
          </p:cNvPr>
          <p:cNvSpPr/>
          <p:nvPr/>
        </p:nvSpPr>
        <p:spPr>
          <a:xfrm>
            <a:off x="1690445" y="1488080"/>
            <a:ext cx="576311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Analiza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kroczaca</a:t>
            </a:r>
            <a:b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time!</a:t>
            </a:r>
          </a:p>
        </p:txBody>
      </p:sp>
    </p:spTree>
    <p:extLst>
      <p:ext uri="{BB962C8B-B14F-4D97-AF65-F5344CB8AC3E}">
        <p14:creationId xmlns:p14="http://schemas.microsoft.com/office/powerpoint/2010/main" val="42714212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8E31-7D76-F0EB-4169-D279328A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16AE98-5AD2-B4BB-3AAB-81F8EE731471}"/>
              </a:ext>
            </a:extLst>
          </p:cNvPr>
          <p:cNvSpPr/>
          <p:nvPr/>
        </p:nvSpPr>
        <p:spPr>
          <a:xfrm>
            <a:off x="2556068" y="1488080"/>
            <a:ext cx="403187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Pytania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?;)</a:t>
            </a:r>
            <a:b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certyfikaty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879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4ED53A-AEF5-40CE-A48F-845A053CA7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47919ad-7785-4e9c-9c41-0c032da801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16978</TotalTime>
  <Words>1793</Words>
  <Application>Microsoft Office PowerPoint</Application>
  <PresentationFormat>On-screen Show (16:9)</PresentationFormat>
  <Paragraphs>270</Paragraphs>
  <Slides>34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Karla</vt:lpstr>
      <vt:lpstr>Arial</vt:lpstr>
      <vt:lpstr>Geologica Light</vt:lpstr>
      <vt:lpstr>Consolas</vt:lpstr>
      <vt:lpstr>Geologica SemiBold</vt:lpstr>
      <vt:lpstr>Geologica Semi Bold</vt:lpstr>
      <vt:lpstr>Geologica Medium</vt:lpstr>
      <vt:lpstr>Geologica</vt:lpstr>
      <vt:lpstr>Karla 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Bazy wiedzy</vt:lpstr>
      <vt:lpstr>AGENT AI</vt:lpstr>
      <vt:lpstr>PowerPoint Presentation</vt:lpstr>
      <vt:lpstr>HALUCYNACJA MODELU</vt:lpstr>
      <vt:lpstr>TEMPERATURA MODELU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Kasper</dc:creator>
  <cp:lastModifiedBy>Kasper Kalfas</cp:lastModifiedBy>
  <cp:revision>58</cp:revision>
  <dcterms:modified xsi:type="dcterms:W3CDTF">2026-09-24T12:57:38Z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dddc05-6d75-4c89-ae8a-b8ab1a1994bc_Enabled">
    <vt:lpwstr>true</vt:lpwstr>
  </property>
  <property fmtid="{D5CDD505-2E9C-101B-9397-08002B2CF9AE}" pid="3" name="MSIP_Label_6ddddc05-6d75-4c89-ae8a-b8ab1a1994bc_SetDate">
    <vt:lpwstr>2025-11-27T22:59:01Z</vt:lpwstr>
  </property>
  <property fmtid="{D5CDD505-2E9C-101B-9397-08002B2CF9AE}" pid="4" name="MSIP_Label_6ddddc05-6d75-4c89-ae8a-b8ab1a1994bc_Method">
    <vt:lpwstr>Standard</vt:lpwstr>
  </property>
  <property fmtid="{D5CDD505-2E9C-101B-9397-08002B2CF9AE}" pid="5" name="MSIP_Label_6ddddc05-6d75-4c89-ae8a-b8ab1a1994bc_Name">
    <vt:lpwstr>without watermark</vt:lpwstr>
  </property>
  <property fmtid="{D5CDD505-2E9C-101B-9397-08002B2CF9AE}" pid="6" name="MSIP_Label_6ddddc05-6d75-4c89-ae8a-b8ab1a1994bc_SiteId">
    <vt:lpwstr>ff9ac3ce-3c41-41c3-b556-e1b32a662fed</vt:lpwstr>
  </property>
  <property fmtid="{D5CDD505-2E9C-101B-9397-08002B2CF9AE}" pid="7" name="MSIP_Label_6ddddc05-6d75-4c89-ae8a-b8ab1a1994bc_ActionId">
    <vt:lpwstr>4d2ddf13-8b8b-4459-8499-d889c9d828b0</vt:lpwstr>
  </property>
  <property fmtid="{D5CDD505-2E9C-101B-9397-08002B2CF9AE}" pid="8" name="MSIP_Label_6ddddc05-6d75-4c89-ae8a-b8ab1a1994bc_ContentBits">
    <vt:lpwstr>0</vt:lpwstr>
  </property>
  <property fmtid="{D5CDD505-2E9C-101B-9397-08002B2CF9AE}" pid="9" name="MSIP_Label_6ddddc05-6d75-4c89-ae8a-b8ab1a1994bc_Tag">
    <vt:lpwstr>50, 3, 0, 1</vt:lpwstr>
  </property>
</Properties>
</file>